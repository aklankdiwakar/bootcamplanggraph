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60" r:id="rId3"/>
    <p:sldId id="262" r:id="rId4"/>
    <p:sldId id="263" r:id="rId5"/>
    <p:sldId id="265" r:id="rId6"/>
    <p:sldId id="264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3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55"/>
    <p:restoredTop sz="94714"/>
  </p:normalViewPr>
  <p:slideViewPr>
    <p:cSldViewPr snapToGrid="0">
      <p:cViewPr varScale="1">
        <p:scale>
          <a:sx n="115" d="100"/>
          <a:sy n="115" d="100"/>
        </p:scale>
        <p:origin x="48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1AB642-803F-9449-BF7B-323927EAA89C}" type="datetimeFigureOut">
              <a:rPr lang="en-US" smtClean="0"/>
              <a:t>2/2/26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4AC286-0456-764D-937A-1B1B5E922B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4928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4AC286-0456-764D-937A-1B1B5E922B7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3348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8C6C3D-1F60-FF73-BFE4-39B99DA39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0D4B33-9E7A-C254-D255-0633B6A405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40B29A-56E5-EEBA-92F1-F9062E0690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02F193-E757-ACF3-F95A-F3292D44BD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4AC286-0456-764D-937A-1B1B5E922B7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7496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85C19-BDE1-8B2C-7F65-BBFE25776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D030B9-4C51-6CB3-5F7F-8E6797139F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D8167C-3F66-8374-6530-7E1DA14836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5E6796-8462-F5C8-2CD6-94C46E5DDF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4AC286-0456-764D-937A-1B1B5E922B7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24114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50F76-69FA-7248-1764-FF93310830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A64B98-9E42-B364-564B-0558D8692E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E0D69-DA28-7232-91B1-04DB903A0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9227A-EF89-6541-828B-1C350939ACB8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E2475A-19DD-D4D2-0AC3-10E848E64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00352-8838-55C9-A4BC-6A2D80E55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C765A3-6ED8-6A4B-AC6D-67ABED6E1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2383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9BDFD-B7E9-460B-F714-97676014E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5ECC3C-63BC-D5EE-3F97-3ED92095F7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F4FA96-53C0-9FAC-CDFA-183BCAF8D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9227A-EF89-6541-828B-1C350939ACB8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471140-600A-FE90-436E-28E0456145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29687A-43EE-0914-0268-4AE935B70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C765A3-6ED8-6A4B-AC6D-67ABED6E1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701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7B682-289B-C40D-08DF-FD1017F0C7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ADAA35-09A2-F98A-DE4C-14CA3524F3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9391AD-B728-1446-6312-9796CAE7D6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9227A-EF89-6541-828B-1C350939ACB8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340B57-4069-E375-2305-153E2FC181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6297E5-B261-A07B-DFB7-D02BF16F6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C765A3-6ED8-6A4B-AC6D-67ABED6E1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3637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B3AC2-496F-D30D-220A-D23E4C210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E9B746-F9D2-AF75-E451-46D9E21DA6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8E91FC-10C4-FBEB-5422-983F6155EF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19FD23-6BDF-0FB2-02BC-CD1B887574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9227A-EF89-6541-828B-1C350939ACB8}" type="datetimeFigureOut">
              <a:rPr lang="en-US" smtClean="0"/>
              <a:t>2/2/26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0C5C87-1B46-940D-3B97-0A87C81F6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237E51-6E32-349D-3FC8-179EE5CC4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C765A3-6ED8-6A4B-AC6D-67ABED6E1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8458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B75C0-9E21-CE2F-1985-C244B60BB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1EF077-9044-278E-AA60-59381B6680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72A2D0-AE85-0378-13B2-26ED51D3A2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522B59-FA16-0540-2DA5-399A4101F0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23FD07-710A-E0E5-A74C-6912794DBC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06237E-A2DB-E9D7-DC2B-C0578EC72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9227A-EF89-6541-828B-1C350939ACB8}" type="datetimeFigureOut">
              <a:rPr lang="en-US" smtClean="0"/>
              <a:t>2/2/26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C2E9149-7FE4-F8ED-509E-FFCC1D4F7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5A53731-0CF4-3C8E-50DB-7E7A14467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C765A3-6ED8-6A4B-AC6D-67ABED6E1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0780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33AC5-8C0F-F0AB-5A88-EDE517785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DDFE39-2E4D-ECE5-8C57-900A4FD31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9227A-EF89-6541-828B-1C350939ACB8}" type="datetimeFigureOut">
              <a:rPr lang="en-US" smtClean="0"/>
              <a:t>2/2/26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442889-8DD0-AB28-FDCE-A31CC1E4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19368E-1155-D7AB-57FE-089B765D8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C765A3-6ED8-6A4B-AC6D-67ABED6E1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865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5AD4A9-CE9A-F6AB-CAA1-331EFD41C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9227A-EF89-6541-828B-1C350939ACB8}" type="datetimeFigureOut">
              <a:rPr lang="en-US" smtClean="0"/>
              <a:t>2/2/26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889766-DBCE-E4BB-8333-0D810D0877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51AED1-CE66-6372-D5C6-8321D74EED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C765A3-6ED8-6A4B-AC6D-67ABED6E1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435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4FEF1-F60B-6AAC-0453-3A309B9B5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D00C88-E30B-796C-8041-D429A2672B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5E296E-DD7C-AFD0-8560-C71D4C0D68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FB4ABE-723C-95E2-9025-A720EBF19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9227A-EF89-6541-828B-1C350939ACB8}" type="datetimeFigureOut">
              <a:rPr lang="en-US" smtClean="0"/>
              <a:t>2/2/26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F705E8-4C0E-C45D-80D0-4DE082228E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656A09-39B2-A480-C026-5F6830FCD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C765A3-6ED8-6A4B-AC6D-67ABED6E1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6180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CBA17-D667-67AE-40CC-08D770F4A0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5B740A-AFC0-AB04-0A00-EDB044E27F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061F00-DE0A-41C7-E835-7B7FB67928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6F5A24-E06B-DCCF-5A9A-FF12AD19D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9227A-EF89-6541-828B-1C350939ACB8}" type="datetimeFigureOut">
              <a:rPr lang="en-US" smtClean="0"/>
              <a:t>2/2/26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E889C7-5B9B-06B3-2350-86A786255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3F1471-E57A-4542-E5E9-05362D61F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C765A3-6ED8-6A4B-AC6D-67ABED6E1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8982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3D096-05A8-8E21-1A69-ED5E7526D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459A48-F8A5-6831-1C4C-19D7540466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23D51-A23D-8ECD-2917-F4C7C60B9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9227A-EF89-6541-828B-1C350939ACB8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3F084F-7D11-CF06-F764-983DAF1B1A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6CACCE-3933-5253-E880-EAC0C802C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C765A3-6ED8-6A4B-AC6D-67ABED6E1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1478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9247FE3-2A72-DBED-14E3-4D186190D9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B30275-02A5-3339-4031-E9AC43CF7C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909CDA-674C-B961-8093-437992C3D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9227A-EF89-6541-828B-1C350939ACB8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CA0638-7598-A6DF-4FC6-CE0FA37A4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506E0E-269D-CBEE-9848-61009F33A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C765A3-6ED8-6A4B-AC6D-67ABED6E1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1628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E2459E-5E42-F354-AD67-DDDAA091D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AAF85D-FE33-3CD0-61CA-DE8DA11258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090BB3-DA4A-DB8F-A986-1A6AEBAADA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39227A-EF89-6541-828B-1C350939ACB8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1D41A8-A9FF-6C9E-450C-A534F31E85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5D5F21-F3BF-4335-E2F2-305B851A3D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C765A3-6ED8-6A4B-AC6D-67ABED6E1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2734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9" name="Rectangle 48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1695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E0D4E7-66D7-457E-4101-4D38AC4EAF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10060" y="5742693"/>
            <a:ext cx="4805996" cy="745530"/>
          </a:xfrm>
        </p:spPr>
        <p:txBody>
          <a:bodyPr anchor="t">
            <a:normAutofit/>
          </a:bodyPr>
          <a:lstStyle/>
          <a:p>
            <a:pPr algn="l"/>
            <a:r>
              <a:rPr lang="en-US" sz="1900" b="1" dirty="0">
                <a:solidFill>
                  <a:srgbClr val="FF032A"/>
                </a:solidFill>
                <a:latin typeface="+mn-lt"/>
              </a:rPr>
              <a:t>Aklank Diwakar</a:t>
            </a:r>
            <a:br>
              <a:rPr lang="en-US" sz="1900" b="1" dirty="0">
                <a:solidFill>
                  <a:srgbClr val="FF032A"/>
                </a:solidFill>
                <a:latin typeface="+mn-lt"/>
              </a:rPr>
            </a:br>
            <a:r>
              <a:rPr lang="en-US" sz="1900" b="1" dirty="0">
                <a:solidFill>
                  <a:srgbClr val="FF032A"/>
                </a:solidFill>
                <a:latin typeface="+mn-lt"/>
              </a:rPr>
              <a:t>Cloud Architect - Oracle</a:t>
            </a:r>
          </a:p>
        </p:txBody>
      </p:sp>
      <p:pic>
        <p:nvPicPr>
          <p:cNvPr id="26" name="Graphic 25" descr="Head with Gears">
            <a:extLst>
              <a:ext uri="{FF2B5EF4-FFF2-40B4-BE49-F238E27FC236}">
                <a16:creationId xmlns:a16="http://schemas.microsoft.com/office/drawing/2014/main" id="{4E1EA321-FA34-E756-7BA9-B1B9AC11AD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0470" y="1815320"/>
            <a:ext cx="4141760" cy="414176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50" name="Group 49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253" y="-5977"/>
            <a:ext cx="6238675" cy="6863979"/>
            <a:chOff x="305" y="-5977"/>
            <a:chExt cx="6238675" cy="6863979"/>
          </a:xfrm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4" name="Title 1">
            <a:extLst>
              <a:ext uri="{FF2B5EF4-FFF2-40B4-BE49-F238E27FC236}">
                <a16:creationId xmlns:a16="http://schemas.microsoft.com/office/drawing/2014/main" id="{59BDCCA6-A121-F1D3-B408-849D59536E0D}"/>
              </a:ext>
            </a:extLst>
          </p:cNvPr>
          <p:cNvSpPr txBox="1">
            <a:spLocks/>
          </p:cNvSpPr>
          <p:nvPr/>
        </p:nvSpPr>
        <p:spPr>
          <a:xfrm>
            <a:off x="6743062" y="4420232"/>
            <a:ext cx="4805996" cy="12971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N" sz="1900" b="1">
                <a:solidFill>
                  <a:schemeClr val="tx2"/>
                </a:solidFill>
              </a:rPr>
              <a:t>Building Production-Grade Agentic AI Systems with LangGraph</a:t>
            </a:r>
            <a:br>
              <a:rPr lang="en-IN" sz="1900">
                <a:solidFill>
                  <a:schemeClr val="tx2"/>
                </a:solidFill>
              </a:rPr>
            </a:br>
            <a:r>
              <a:rPr lang="en-IN" sz="1900" i="1">
                <a:solidFill>
                  <a:schemeClr val="tx2"/>
                </a:solidFill>
              </a:rPr>
              <a:t>From Single Agent → Multi-Agent → Evaluation &amp; Optimization</a:t>
            </a:r>
            <a:endParaRPr lang="en-US" sz="19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79414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E070EB9-986C-F626-96E5-9FA8A6FEB0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8884"/>
            <a:ext cx="9833548" cy="3854747"/>
          </a:xfrm>
        </p:spPr>
        <p:txBody>
          <a:bodyPr>
            <a:normAutofit fontScale="25000" lnSpcReduction="20000"/>
          </a:bodyPr>
          <a:lstStyle/>
          <a:p>
            <a:r>
              <a:rPr lang="en-IN" sz="6200" b="1" dirty="0"/>
              <a:t>Problem with traditional LLM apps</a:t>
            </a:r>
            <a:endParaRPr lang="en-IN" sz="6200" dirty="0"/>
          </a:p>
          <a:p>
            <a:pPr lvl="1"/>
            <a:r>
              <a:rPr lang="en-IN" sz="5800" dirty="0"/>
              <a:t>Stateless</a:t>
            </a:r>
          </a:p>
          <a:p>
            <a:pPr lvl="1"/>
            <a:r>
              <a:rPr lang="en-IN" sz="5800" dirty="0"/>
              <a:t>One-shot responses</a:t>
            </a:r>
          </a:p>
          <a:p>
            <a:pPr lvl="1"/>
            <a:r>
              <a:rPr lang="en-IN" sz="5800" dirty="0"/>
              <a:t>No decision-making</a:t>
            </a:r>
          </a:p>
          <a:p>
            <a:pPr lvl="1"/>
            <a:r>
              <a:rPr lang="en-IN" sz="5800" dirty="0"/>
              <a:t>No collaboration</a:t>
            </a:r>
          </a:p>
          <a:p>
            <a:r>
              <a:rPr lang="en-IN" sz="6200" b="1" dirty="0"/>
              <a:t>What Agentic AI enables</a:t>
            </a:r>
            <a:endParaRPr lang="en-IN" sz="6200" dirty="0"/>
          </a:p>
          <a:p>
            <a:pPr lvl="1"/>
            <a:r>
              <a:rPr lang="en-IN" sz="5800" dirty="0"/>
              <a:t>Reasoning + actions</a:t>
            </a:r>
          </a:p>
          <a:p>
            <a:pPr lvl="1"/>
            <a:r>
              <a:rPr lang="en-IN" sz="5800" dirty="0"/>
              <a:t>Tool usage</a:t>
            </a:r>
          </a:p>
          <a:p>
            <a:pPr lvl="1"/>
            <a:r>
              <a:rPr lang="en-IN" sz="5800" dirty="0"/>
              <a:t>Multi-step workflows</a:t>
            </a:r>
          </a:p>
          <a:p>
            <a:pPr lvl="1"/>
            <a:r>
              <a:rPr lang="en-IN" sz="5800" dirty="0"/>
              <a:t>Autonomous problem solving</a:t>
            </a:r>
          </a:p>
          <a:p>
            <a:r>
              <a:rPr lang="en-IN" sz="6200" b="1" dirty="0"/>
              <a:t>What is AI Agents</a:t>
            </a:r>
          </a:p>
          <a:p>
            <a:pPr lvl="1"/>
            <a:r>
              <a:rPr lang="en-IN" sz="5800" dirty="0"/>
              <a:t>LLM</a:t>
            </a:r>
          </a:p>
          <a:p>
            <a:pPr lvl="1"/>
            <a:r>
              <a:rPr lang="en-IN" sz="5800" dirty="0"/>
              <a:t>Tools (Sub-Agent)</a:t>
            </a:r>
          </a:p>
          <a:p>
            <a:pPr lvl="1"/>
            <a:r>
              <a:rPr lang="en-IN" sz="5800" dirty="0"/>
              <a:t>State</a:t>
            </a:r>
          </a:p>
          <a:p>
            <a:pPr lvl="1"/>
            <a:r>
              <a:rPr lang="en-IN" sz="5800" dirty="0"/>
              <a:t>Memory</a:t>
            </a:r>
          </a:p>
          <a:p>
            <a:pPr lvl="1"/>
            <a:r>
              <a:rPr lang="en-IN" sz="5800" dirty="0"/>
              <a:t>Orchestration </a:t>
            </a:r>
          </a:p>
          <a:p>
            <a:pPr marL="0" indent="0">
              <a:buNone/>
            </a:pPr>
            <a:r>
              <a:rPr lang="en-IN" sz="6200" dirty="0"/>
              <a:t>User → Agent → Think → Act → Observe → Think → Act → Result</a:t>
            </a:r>
          </a:p>
          <a:p>
            <a:endParaRPr lang="en-IN" sz="6200" dirty="0"/>
          </a:p>
          <a:p>
            <a:endParaRPr lang="en-US" sz="1800" dirty="0">
              <a:solidFill>
                <a:schemeClr val="tx2"/>
              </a:solidFill>
            </a:endParaRP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E5DF8883-DC2A-16D8-6B31-1B5A8B3413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IN" sz="3200" dirty="0"/>
              <a:t>Why Agentic AI?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40553919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11CC22-1654-72A9-AC96-EC592EEE4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852ADDE-D881-DFB6-CAB2-6CAC1B050D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9AFC93-A851-96B3-335D-BF3A66BD5A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670ED34-25CC-F105-0603-D3CC3DDD0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43FC9CB0-3670-66DA-73B8-6C8F3F2925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CC0BE00-289F-7A0C-EADD-BABA7E6FA0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17EF94F-6589-24CC-8C2E-60D535E2DD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F60ECA1-9D09-2D3D-E9A0-C33FF7DECA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EBAB9AC-73AD-1BE9-4744-4EA885AEDE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D53234B-BE64-CFBA-2684-AECAFE9D89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B7A74D36-2D04-DB08-C78E-38F368C508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B7FB277B-4404-CE00-EDD6-3836ACFDB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8C9C2C8-6FCC-06A4-B816-E6225059C4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E360C2E-9E7B-FBB6-3FFB-D444B25893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00365"/>
            <a:ext cx="9833548" cy="3854747"/>
          </a:xfrm>
        </p:spPr>
        <p:txBody>
          <a:bodyPr>
            <a:normAutofit/>
          </a:bodyPr>
          <a:lstStyle/>
          <a:p>
            <a:endParaRPr lang="en-IN" sz="6200" dirty="0"/>
          </a:p>
          <a:p>
            <a:endParaRPr lang="en-US" sz="1800" dirty="0">
              <a:solidFill>
                <a:schemeClr val="tx2"/>
              </a:solidFill>
            </a:endParaRP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4DCCDA63-B202-05B7-2B24-A583C8D83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IN" sz="3200" dirty="0"/>
              <a:t>Single Agent vs Multi-Agent vs Workflow</a:t>
            </a:r>
            <a:endParaRPr lang="en-US" sz="32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E80BBF2-2B82-5CE2-F5AD-08884DDB1B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38531"/>
              </p:ext>
            </p:extLst>
          </p:nvPr>
        </p:nvGraphicFramePr>
        <p:xfrm>
          <a:off x="838200" y="1893178"/>
          <a:ext cx="10515600" cy="2560320"/>
        </p:xfrm>
        <a:graphic>
          <a:graphicData uri="http://schemas.openxmlformats.org/drawingml/2006/table">
            <a:tbl>
              <a:tblPr/>
              <a:tblGrid>
                <a:gridCol w="2628900">
                  <a:extLst>
                    <a:ext uri="{9D8B030D-6E8A-4147-A177-3AD203B41FA5}">
                      <a16:colId xmlns:a16="http://schemas.microsoft.com/office/drawing/2014/main" val="707876424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88207334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68293944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7997003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Single Agent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Multi-Agent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Workflow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57825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Autonomy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High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Distributed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Controlled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69579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Flexibility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Medium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High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Medium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1433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Scalability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High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High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81629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Complexity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High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Medium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2487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Production Readiness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Medium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High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68996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Best Framework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LangChain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LangGraph / CrewAI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 err="1"/>
                        <a:t>LangGraph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56794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85975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215B76-EED3-9FA7-FF1A-19882CD29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D22AA13-2F7B-19D1-40E2-047ACFDFEF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B92598-095B-D743-FEC6-E516676AF6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F5F941D-F049-DFE1-9751-985BBBF9AD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3B51019-9122-7D1C-AF20-7E90054B41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36EB724-6AFE-905D-41E7-60E7BFA8C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FAC59304-5EFA-F77E-DE75-85515DA476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269BD51-5E97-6B05-B163-F5419AD08C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73BDF41-FA7C-350F-B7CF-BAE8266DFD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37C5B533-BC4D-4775-67E1-1C22F44B23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2C2EE88-4D62-C4E2-DF69-AC6BA1B1CD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5D6BA06D-2262-782F-8388-83505E5418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27E0B84-BA4B-CDDE-8039-CD87D4F9D3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7" name="Title 4">
            <a:extLst>
              <a:ext uri="{FF2B5EF4-FFF2-40B4-BE49-F238E27FC236}">
                <a16:creationId xmlns:a16="http://schemas.microsoft.com/office/drawing/2014/main" id="{E363CB25-F600-0AEC-4EFF-9E36CD835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IN" sz="3200" dirty="0"/>
              <a:t>Demo: Fusion HCM Agent - </a:t>
            </a:r>
            <a:r>
              <a:rPr lang="en-IN" sz="3200" dirty="0" err="1"/>
              <a:t>LangGraph</a:t>
            </a:r>
            <a:endParaRPr lang="en-US" sz="3200" dirty="0"/>
          </a:p>
        </p:txBody>
      </p:sp>
      <p:sp>
        <p:nvSpPr>
          <p:cNvPr id="23" name="Rectangle 6">
            <a:extLst>
              <a:ext uri="{FF2B5EF4-FFF2-40B4-BE49-F238E27FC236}">
                <a16:creationId xmlns:a16="http://schemas.microsoft.com/office/drawing/2014/main" id="{64415779-4BE8-C647-C07A-B1C122C3CF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4454" y="1843918"/>
            <a:ext cx="7948961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 err="1">
                <a:latin typeface="Arial" panose="020B0604020202020204" pitchFamily="34" charset="0"/>
              </a:rPr>
              <a:t>simple_fusion_agent</a:t>
            </a:r>
            <a:r>
              <a:rPr lang="en-US" altLang="en-US" dirty="0">
                <a:latin typeface="Arial" panose="020B0604020202020204" pitchFamily="34" charset="0"/>
              </a:rPr>
              <a:t>/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├── </a:t>
            </a:r>
            <a:r>
              <a:rPr lang="en-US" altLang="en-US" dirty="0" err="1">
                <a:latin typeface="Arial" panose="020B0604020202020204" pitchFamily="34" charset="0"/>
              </a:rPr>
              <a:t>state.py</a:t>
            </a:r>
            <a:r>
              <a:rPr lang="en-US" altLang="en-US" dirty="0">
                <a:latin typeface="Arial" panose="020B0604020202020204" pitchFamily="34" charset="0"/>
              </a:rPr>
              <a:t>          ← The shared state (most important!)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├── </a:t>
            </a:r>
            <a:r>
              <a:rPr lang="en-US" altLang="en-US" dirty="0" err="1">
                <a:latin typeface="Arial" panose="020B0604020202020204" pitchFamily="34" charset="0"/>
              </a:rPr>
              <a:t>supervisor.py</a:t>
            </a:r>
            <a:r>
              <a:rPr lang="en-US" altLang="en-US" dirty="0">
                <a:latin typeface="Arial" panose="020B0604020202020204" pitchFamily="34" charset="0"/>
              </a:rPr>
              <a:t>     ← The "brain" that decides what to do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├── </a:t>
            </a:r>
            <a:r>
              <a:rPr lang="en-US" altLang="en-US" dirty="0" err="1">
                <a:latin typeface="Arial" panose="020B0604020202020204" pitchFamily="34" charset="0"/>
              </a:rPr>
              <a:t>agents.py</a:t>
            </a:r>
            <a:r>
              <a:rPr lang="en-US" altLang="en-US" dirty="0">
                <a:latin typeface="Arial" panose="020B0604020202020204" pitchFamily="34" charset="0"/>
              </a:rPr>
              <a:t>         ← Three simple worker agents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├── </a:t>
            </a:r>
            <a:r>
              <a:rPr lang="en-US" altLang="en-US" dirty="0" err="1">
                <a:latin typeface="Arial" panose="020B0604020202020204" pitchFamily="34" charset="0"/>
              </a:rPr>
              <a:t>workflow.py</a:t>
            </a:r>
            <a:r>
              <a:rPr lang="en-US" altLang="en-US" dirty="0">
                <a:latin typeface="Arial" panose="020B0604020202020204" pitchFamily="34" charset="0"/>
              </a:rPr>
              <a:t>       ← Connects everything with </a:t>
            </a:r>
            <a:r>
              <a:rPr lang="en-US" altLang="en-US" dirty="0" err="1">
                <a:latin typeface="Arial" panose="020B0604020202020204" pitchFamily="34" charset="0"/>
              </a:rPr>
              <a:t>LangGraph</a:t>
            </a:r>
            <a:endParaRPr lang="en-US" altLang="en-US" dirty="0">
              <a:latin typeface="Arial" panose="020B0604020202020204" pitchFamily="34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├── </a:t>
            </a:r>
            <a:r>
              <a:rPr lang="en-US" altLang="en-US" dirty="0" err="1">
                <a:latin typeface="Arial" panose="020B0604020202020204" pitchFamily="34" charset="0"/>
              </a:rPr>
              <a:t>main.py</a:t>
            </a:r>
            <a:r>
              <a:rPr lang="en-US" altLang="en-US" dirty="0">
                <a:latin typeface="Arial" panose="020B0604020202020204" pitchFamily="34" charset="0"/>
              </a:rPr>
              <a:t>           ← Run this to try it out!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└── </a:t>
            </a:r>
            <a:r>
              <a:rPr lang="en-US" altLang="en-US" dirty="0" err="1">
                <a:latin typeface="Arial" panose="020B0604020202020204" pitchFamily="34" charset="0"/>
              </a:rPr>
              <a:t>requirements.txt</a:t>
            </a:r>
            <a:r>
              <a:rPr lang="en-US" altLang="en-US" dirty="0">
                <a:latin typeface="Arial" panose="020B0604020202020204" pitchFamily="34" charset="0"/>
              </a:rPr>
              <a:t>  ← Dependencies</a:t>
            </a:r>
          </a:p>
          <a:p>
            <a:pPr marL="28575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76455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5D693C-2D38-7F0F-0AD5-6C906F589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DA33FB0-7E8C-C814-A2EC-85A4139A48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457122-51F7-022A-F606-706B7F8078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4DB6E07-3F61-FC5D-F89F-C25CE2140E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42367378-6BAE-74D6-120C-BC75A7A087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DC3DAE08-0106-AE46-99B3-66823C19FA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D65E734-9807-28C2-7C51-B4A958C6B5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6C24599-A61C-608C-3CCB-166B9095D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9CD51C9-DC50-37FB-9AF4-B64C0EE78D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AD1761A2-4165-7477-31F4-93A04CF7BF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14203BE-F941-B54C-037A-86871BF5B2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C75B425C-4703-DA0B-4846-FEC1D4055E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34F0EA48-D5B5-9187-D23B-CDF14F7E8F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7" name="Title 4">
            <a:extLst>
              <a:ext uri="{FF2B5EF4-FFF2-40B4-BE49-F238E27FC236}">
                <a16:creationId xmlns:a16="http://schemas.microsoft.com/office/drawing/2014/main" id="{BD909382-7C61-5B7B-1A88-01C64C98DD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IN" sz="3200" dirty="0"/>
              <a:t>Agent Evaluation &amp; Optimization</a:t>
            </a:r>
            <a:endParaRPr lang="en-US" sz="3200" dirty="0"/>
          </a:p>
        </p:txBody>
      </p:sp>
      <p:sp>
        <p:nvSpPr>
          <p:cNvPr id="23" name="Rectangle 6">
            <a:extLst>
              <a:ext uri="{FF2B5EF4-FFF2-40B4-BE49-F238E27FC236}">
                <a16:creationId xmlns:a16="http://schemas.microsoft.com/office/drawing/2014/main" id="{DB62A6D2-533C-65B1-0300-DC4B110461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804503"/>
            <a:ext cx="3544229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</a:rPr>
              <a:t>Evaluating Agentic Systems</a:t>
            </a:r>
            <a:endParaRPr lang="en-US" altLang="en-US" dirty="0">
              <a:latin typeface="Arial" panose="020B0604020202020204" pitchFamily="34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Accuracy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Latency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Tool success rate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Cost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 marL="28575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</p:txBody>
      </p:sp>
      <p:sp>
        <p:nvSpPr>
          <p:cNvPr id="27" name="Rectangle 8">
            <a:extLst>
              <a:ext uri="{FF2B5EF4-FFF2-40B4-BE49-F238E27FC236}">
                <a16:creationId xmlns:a16="http://schemas.microsoft.com/office/drawing/2014/main" id="{B893E625-8DAF-BD56-E1CB-0EFA904D62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7499" y="4146310"/>
            <a:ext cx="2982611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</a:rPr>
              <a:t>Optimization Techniques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Prompt tuning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Tool constraints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Parallel execution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Caching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Guardrails</a:t>
            </a:r>
          </a:p>
        </p:txBody>
      </p:sp>
    </p:spTree>
    <p:extLst>
      <p:ext uri="{BB962C8B-B14F-4D97-AF65-F5344CB8AC3E}">
        <p14:creationId xmlns:p14="http://schemas.microsoft.com/office/powerpoint/2010/main" val="40115479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BF1C28-EFEB-3104-9697-F01B82F68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1F03C3C-3F43-3E41-2F99-DAB9B9F680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CFFFE1-81B3-E0D1-F623-FDD1B39F53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F6E3C91-BA8A-2BA4-6887-B2585AA95A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87EBE91A-0EE3-0F81-6CAB-226C590EA6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8D73F7C-DFDB-D25C-F344-713E6D28D8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26C339B-CD35-2DA5-2309-9392039208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755724CA-B9A8-EE83-291F-6475BCFE80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B7B2B6F-86DA-57E1-0B55-9A88095C80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371434B9-25D8-6F3D-63F9-6F7E3581A3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F76156F4-0194-29AC-2CB0-2107E35102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E59400C-2430-A5EC-C46D-B9F0316086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AC0C907E-A4AF-09F0-316F-D0649B485D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7" name="Title 4">
            <a:extLst>
              <a:ext uri="{FF2B5EF4-FFF2-40B4-BE49-F238E27FC236}">
                <a16:creationId xmlns:a16="http://schemas.microsoft.com/office/drawing/2014/main" id="{1F9EEE21-A679-8C8D-E77F-C8AD3F030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IN" sz="3200" dirty="0"/>
              <a:t>Deployment &amp; Scaling</a:t>
            </a:r>
            <a:endParaRPr lang="en-US" sz="32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22124CF-2EC9-44CA-D38E-21620AB367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053690"/>
            <a:ext cx="8837037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Containerization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Stateless agents (From Infrastructure points)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External memory (DB / Vector store)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Horizontal scaling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Secure secrets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7E103D-D48D-199C-45BC-98D9290C303D}"/>
              </a:ext>
            </a:extLst>
          </p:cNvPr>
          <p:cNvSpPr txBox="1"/>
          <p:nvPr/>
        </p:nvSpPr>
        <p:spPr>
          <a:xfrm>
            <a:off x="838200" y="4059704"/>
            <a:ext cx="660152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One Core Problem:</a:t>
            </a:r>
          </a:p>
          <a:p>
            <a:r>
              <a:rPr lang="en-IN" dirty="0"/>
              <a:t>In Kubernetes / ECS / OCI OKE:</a:t>
            </a:r>
          </a:p>
          <a:p>
            <a:r>
              <a:rPr lang="en-IN" dirty="0"/>
              <a:t>Requests are load-balanced</a:t>
            </a:r>
          </a:p>
          <a:p>
            <a:r>
              <a:rPr lang="en-IN" dirty="0"/>
              <a:t>Each request can hit a </a:t>
            </a:r>
            <a:r>
              <a:rPr lang="en-IN" b="1" dirty="0"/>
              <a:t>different pod</a:t>
            </a:r>
            <a:endParaRPr lang="en-IN" dirty="0"/>
          </a:p>
          <a:p>
            <a:r>
              <a:rPr lang="en-IN" dirty="0"/>
              <a:t>Pods are stateless</a:t>
            </a:r>
          </a:p>
          <a:p>
            <a:r>
              <a:rPr lang="en-IN" dirty="0"/>
              <a:t>In-memory context is lost</a:t>
            </a:r>
          </a:p>
          <a:p>
            <a:r>
              <a:rPr lang="en-IN" dirty="0"/>
              <a:t>So…</a:t>
            </a:r>
          </a:p>
          <a:p>
            <a:r>
              <a:rPr lang="en-IN" dirty="0"/>
              <a:t>❓ </a:t>
            </a:r>
            <a:r>
              <a:rPr lang="en-IN" i="1" dirty="0"/>
              <a:t>How does the agent remember previous messages?</a:t>
            </a:r>
            <a:endParaRPr lang="en-IN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69660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c76ce46-357f-46de-88d6-77b9bbb83c46}" enabled="1" method="Privileged" siteId="{4e2c6054-71cb-48f1-bd6c-3a9705aca71b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283</Words>
  <Application>Microsoft Macintosh PowerPoint</Application>
  <PresentationFormat>Widescreen</PresentationFormat>
  <Paragraphs>87</Paragraphs>
  <Slides>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Aklank Diwakar Cloud Architect - Oracle</vt:lpstr>
      <vt:lpstr>Why Agentic AI?</vt:lpstr>
      <vt:lpstr>Single Agent vs Multi-Agent vs Workflow</vt:lpstr>
      <vt:lpstr>Demo: Fusion HCM Agent - LangGraph</vt:lpstr>
      <vt:lpstr>Agent Evaluation &amp; Optimization</vt:lpstr>
      <vt:lpstr>Deployment &amp; Scaling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Aklank Diwakar</dc:creator>
  <cp:lastModifiedBy>Aklank Diwakar</cp:lastModifiedBy>
  <cp:revision>2</cp:revision>
  <dcterms:created xsi:type="dcterms:W3CDTF">2026-02-02T13:03:05Z</dcterms:created>
  <dcterms:modified xsi:type="dcterms:W3CDTF">2026-02-02T14:23:14Z</dcterms:modified>
</cp:coreProperties>
</file>
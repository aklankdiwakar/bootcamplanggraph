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78" r:id="rId3"/>
    <p:sldId id="260" r:id="rId4"/>
    <p:sldId id="276" r:id="rId5"/>
    <p:sldId id="263" r:id="rId6"/>
    <p:sldId id="265" r:id="rId7"/>
    <p:sldId id="274" r:id="rId8"/>
    <p:sldId id="264" r:id="rId9"/>
    <p:sldId id="275" r:id="rId10"/>
    <p:sldId id="27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3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21"/>
    <p:restoredTop sz="94714"/>
  </p:normalViewPr>
  <p:slideViewPr>
    <p:cSldViewPr snapToGrid="0">
      <p:cViewPr varScale="1">
        <p:scale>
          <a:sx n="115" d="100"/>
          <a:sy n="115" d="100"/>
        </p:scale>
        <p:origin x="28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1AB642-803F-9449-BF7B-323927EAA89C}"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4AC286-0456-764D-937A-1B1B5E922B72}" type="slidenum">
              <a:rPr lang="en-US" smtClean="0"/>
              <a:t>‹#›</a:t>
            </a:fld>
            <a:endParaRPr lang="en-US"/>
          </a:p>
        </p:txBody>
      </p:sp>
    </p:spTree>
    <p:extLst>
      <p:ext uri="{BB962C8B-B14F-4D97-AF65-F5344CB8AC3E}">
        <p14:creationId xmlns:p14="http://schemas.microsoft.com/office/powerpoint/2010/main" val="31004928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4AC286-0456-764D-937A-1B1B5E922B72}" type="slidenum">
              <a:rPr lang="en-US" smtClean="0"/>
              <a:t>5</a:t>
            </a:fld>
            <a:endParaRPr lang="en-US"/>
          </a:p>
        </p:txBody>
      </p:sp>
    </p:spTree>
    <p:extLst>
      <p:ext uri="{BB962C8B-B14F-4D97-AF65-F5344CB8AC3E}">
        <p14:creationId xmlns:p14="http://schemas.microsoft.com/office/powerpoint/2010/main" val="21943348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C6C3D-1F60-FF73-BFE4-39B99DA39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D4B33-9E7A-C254-D255-0633B6A405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40B29A-56E5-EEBA-92F1-F9062E0690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02F193-E757-ACF3-F95A-F3292D44BD1C}"/>
              </a:ext>
            </a:extLst>
          </p:cNvPr>
          <p:cNvSpPr>
            <a:spLocks noGrp="1"/>
          </p:cNvSpPr>
          <p:nvPr>
            <p:ph type="sldNum" sz="quarter" idx="5"/>
          </p:nvPr>
        </p:nvSpPr>
        <p:spPr/>
        <p:txBody>
          <a:bodyPr/>
          <a:lstStyle/>
          <a:p>
            <a:fld id="{E04AC286-0456-764D-937A-1B1B5E922B72}" type="slidenum">
              <a:rPr lang="en-US" smtClean="0"/>
              <a:t>6</a:t>
            </a:fld>
            <a:endParaRPr lang="en-US"/>
          </a:p>
        </p:txBody>
      </p:sp>
    </p:spTree>
    <p:extLst>
      <p:ext uri="{BB962C8B-B14F-4D97-AF65-F5344CB8AC3E}">
        <p14:creationId xmlns:p14="http://schemas.microsoft.com/office/powerpoint/2010/main" val="1597496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DBC86-CA49-A551-36D6-18CD8458BE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F9263-D2A3-D332-EC74-CBF83AF763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6C5010-F9C3-51A8-F909-4C16F2BB12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3021F5-B764-2DF7-169F-16AE6E7F69C1}"/>
              </a:ext>
            </a:extLst>
          </p:cNvPr>
          <p:cNvSpPr>
            <a:spLocks noGrp="1"/>
          </p:cNvSpPr>
          <p:nvPr>
            <p:ph type="sldNum" sz="quarter" idx="5"/>
          </p:nvPr>
        </p:nvSpPr>
        <p:spPr/>
        <p:txBody>
          <a:bodyPr/>
          <a:lstStyle/>
          <a:p>
            <a:fld id="{E04AC286-0456-764D-937A-1B1B5E922B72}" type="slidenum">
              <a:rPr lang="en-US" smtClean="0"/>
              <a:t>7</a:t>
            </a:fld>
            <a:endParaRPr lang="en-US"/>
          </a:p>
        </p:txBody>
      </p:sp>
    </p:spTree>
    <p:extLst>
      <p:ext uri="{BB962C8B-B14F-4D97-AF65-F5344CB8AC3E}">
        <p14:creationId xmlns:p14="http://schemas.microsoft.com/office/powerpoint/2010/main" val="38502848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85C19-BDE1-8B2C-7F65-BBFE25776E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D030B9-4C51-6CB3-5F7F-8E6797139F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D8167C-3F66-8374-6530-7E1DA14836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5E6796-8462-F5C8-2CD6-94C46E5DDFDF}"/>
              </a:ext>
            </a:extLst>
          </p:cNvPr>
          <p:cNvSpPr>
            <a:spLocks noGrp="1"/>
          </p:cNvSpPr>
          <p:nvPr>
            <p:ph type="sldNum" sz="quarter" idx="5"/>
          </p:nvPr>
        </p:nvSpPr>
        <p:spPr/>
        <p:txBody>
          <a:bodyPr/>
          <a:lstStyle/>
          <a:p>
            <a:fld id="{E04AC286-0456-764D-937A-1B1B5E922B72}" type="slidenum">
              <a:rPr lang="en-US" smtClean="0"/>
              <a:t>8</a:t>
            </a:fld>
            <a:endParaRPr lang="en-US"/>
          </a:p>
        </p:txBody>
      </p:sp>
    </p:spTree>
    <p:extLst>
      <p:ext uri="{BB962C8B-B14F-4D97-AF65-F5344CB8AC3E}">
        <p14:creationId xmlns:p14="http://schemas.microsoft.com/office/powerpoint/2010/main" val="4424114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CFE83-43A8-59F2-6135-27A4FB9E39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2CCA0-0896-84A1-A9B4-F8E6051FE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65218-467C-0D1A-5EEA-05F8B06C22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2FD78-B222-8BFD-513D-70F75A676359}"/>
              </a:ext>
            </a:extLst>
          </p:cNvPr>
          <p:cNvSpPr>
            <a:spLocks noGrp="1"/>
          </p:cNvSpPr>
          <p:nvPr>
            <p:ph type="sldNum" sz="quarter" idx="5"/>
          </p:nvPr>
        </p:nvSpPr>
        <p:spPr/>
        <p:txBody>
          <a:bodyPr/>
          <a:lstStyle/>
          <a:p>
            <a:fld id="{E04AC286-0456-764D-937A-1B1B5E922B72}" type="slidenum">
              <a:rPr lang="en-US" smtClean="0"/>
              <a:t>9</a:t>
            </a:fld>
            <a:endParaRPr lang="en-US"/>
          </a:p>
        </p:txBody>
      </p:sp>
    </p:spTree>
    <p:extLst>
      <p:ext uri="{BB962C8B-B14F-4D97-AF65-F5344CB8AC3E}">
        <p14:creationId xmlns:p14="http://schemas.microsoft.com/office/powerpoint/2010/main" val="17432615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B9E61-8895-9A0C-5945-68B0557DB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2E30A-1482-293C-0E31-4F19357235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B35F7-21BD-27EC-BE12-7C6D66CDC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F7898D-D7CB-A81A-10FD-441B3E687C23}"/>
              </a:ext>
            </a:extLst>
          </p:cNvPr>
          <p:cNvSpPr>
            <a:spLocks noGrp="1"/>
          </p:cNvSpPr>
          <p:nvPr>
            <p:ph type="sldNum" sz="quarter" idx="5"/>
          </p:nvPr>
        </p:nvSpPr>
        <p:spPr/>
        <p:txBody>
          <a:bodyPr/>
          <a:lstStyle/>
          <a:p>
            <a:fld id="{E04AC286-0456-764D-937A-1B1B5E922B72}" type="slidenum">
              <a:rPr lang="en-US" smtClean="0"/>
              <a:t>10</a:t>
            </a:fld>
            <a:endParaRPr lang="en-US"/>
          </a:p>
        </p:txBody>
      </p:sp>
    </p:spTree>
    <p:extLst>
      <p:ext uri="{BB962C8B-B14F-4D97-AF65-F5344CB8AC3E}">
        <p14:creationId xmlns:p14="http://schemas.microsoft.com/office/powerpoint/2010/main" val="137223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50F76-69FA-7248-1764-FF93310830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5A64B98-9E42-B364-564B-0558D8692E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DEE0D69-DA28-7232-91B1-04DB903A09E7}"/>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F9E2475A-19DD-D4D2-0AC3-10E848E644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00352-8838-55C9-A4BC-6A2D80E55561}"/>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252523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9BDFD-B7E9-460B-F714-97676014E4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5ECC3C-63BC-D5EE-3F97-3ED92095F7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4FA96-53C0-9FAC-CDFA-183BCAF8D4B0}"/>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80471140-600A-FE90-436E-28E0456145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29687A-43EE-0914-0268-4AE935B70E2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791701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B682-289B-C40D-08DF-FD1017F0C70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EADAA35-09A2-F98A-DE4C-14CA3524F38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9391AD-B728-1446-6312-9796CAE7D6EB}"/>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35340B57-4069-E375-2305-153E2FC181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6297E5-B261-A07B-DFB7-D02BF16F6B99}"/>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2783363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B3AC2-496F-D30D-220A-D23E4C210D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E9B746-F9D2-AF75-E451-46D9E21DA6E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F8E91FC-10C4-FBEB-5422-983F6155EF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C19FD23-6BDF-0FB2-02BC-CD1B88757439}"/>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6" name="Footer Placeholder 5">
            <a:extLst>
              <a:ext uri="{FF2B5EF4-FFF2-40B4-BE49-F238E27FC236}">
                <a16:creationId xmlns:a16="http://schemas.microsoft.com/office/drawing/2014/main" id="{160C5C87-1B46-940D-3B97-0A87C81F61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237E51-6E32-349D-3FC8-179EE5CC459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7488458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BB75C0-9E21-CE2F-1985-C244B60BB0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51EF077-9044-278E-AA60-59381B6680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72A2D0-AE85-0378-13B2-26ED51D3A2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522B59-FA16-0540-2DA5-399A4101F0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23FD07-710A-E0E5-A74C-6912794DBCF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06237E-A2DB-E9D7-DC2B-C0578EC72764}"/>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8" name="Footer Placeholder 7">
            <a:extLst>
              <a:ext uri="{FF2B5EF4-FFF2-40B4-BE49-F238E27FC236}">
                <a16:creationId xmlns:a16="http://schemas.microsoft.com/office/drawing/2014/main" id="{CC2E9149-7FE4-F8ED-509E-FFCC1D4F75D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5A53731-0CF4-3C8E-50DB-7E7A144674ED}"/>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4156078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3AC5-8C0F-F0AB-5A88-EDE5177854C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DDFE39-2E4D-ECE5-8C57-900A4FD3193D}"/>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4" name="Footer Placeholder 3">
            <a:extLst>
              <a:ext uri="{FF2B5EF4-FFF2-40B4-BE49-F238E27FC236}">
                <a16:creationId xmlns:a16="http://schemas.microsoft.com/office/drawing/2014/main" id="{51442889-8DD0-AB28-FDCE-A31CC1E46A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19368E-1155-D7AB-57FE-089B765D8F68}"/>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494865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75AD4A9-CE9A-F6AB-CAA1-331EFD41CC33}"/>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3" name="Footer Placeholder 2">
            <a:extLst>
              <a:ext uri="{FF2B5EF4-FFF2-40B4-BE49-F238E27FC236}">
                <a16:creationId xmlns:a16="http://schemas.microsoft.com/office/drawing/2014/main" id="{5E889766-DBCE-E4BB-8333-0D810D08779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51AED1-CE66-6372-D5C6-8321D74EEDDC}"/>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0974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FEF1-F60B-6AAC-0453-3A309B9B57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D00C88-E30B-796C-8041-D429A2672BE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75E296E-DD7C-AFD0-8560-C71D4C0D68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FB4ABE-723C-95E2-9025-A720EBF19B7D}"/>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6" name="Footer Placeholder 5">
            <a:extLst>
              <a:ext uri="{FF2B5EF4-FFF2-40B4-BE49-F238E27FC236}">
                <a16:creationId xmlns:a16="http://schemas.microsoft.com/office/drawing/2014/main" id="{07F705E8-4C0E-C45D-80D0-4DE082228E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656A09-39B2-A480-C026-5F6830FCD0D5}"/>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6366180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CBA17-D667-67AE-40CC-08D770F4A0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15B740A-AFC0-AB04-0A00-EDB044E27F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6061F00-DE0A-41C7-E835-7B7FB67928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26F5A24-E06B-DCCF-5A9A-FF12AD19D046}"/>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6" name="Footer Placeholder 5">
            <a:extLst>
              <a:ext uri="{FF2B5EF4-FFF2-40B4-BE49-F238E27FC236}">
                <a16:creationId xmlns:a16="http://schemas.microsoft.com/office/drawing/2014/main" id="{A1E889C7-5B9B-06B3-2350-86A7862555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3F1471-E57A-4542-E5E9-05362D61FA7F}"/>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8378982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3D096-05A8-8E21-1A69-ED5E7526D17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459A48-F8A5-6831-1C4C-19D7540466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623D51-A23D-8ECD-2917-F4C7C60B9EF4}"/>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D63F084F-7D11-CF06-F764-983DAF1B1A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CACCE-3933-5253-E880-EAC0C802C41C}"/>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13821478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9247FE3-2A72-DBED-14E3-4D186190D94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0275-02A5-3339-4031-E9AC43CF7C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909CDA-674C-B961-8093-437992C3D6AD}"/>
              </a:ext>
            </a:extLst>
          </p:cNvPr>
          <p:cNvSpPr>
            <a:spLocks noGrp="1"/>
          </p:cNvSpPr>
          <p:nvPr>
            <p:ph type="dt" sz="half" idx="10"/>
          </p:nvPr>
        </p:nvSpPr>
        <p:spPr/>
        <p:txBody>
          <a:body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A4CA0638-7598-A6DF-4FC6-CE0FA37A4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506E0E-269D-CBEE-9848-61009F33A067}"/>
              </a:ext>
            </a:extLst>
          </p:cNvPr>
          <p:cNvSpPr>
            <a:spLocks noGrp="1"/>
          </p:cNvSpPr>
          <p:nvPr>
            <p:ph type="sldNum" sz="quarter" idx="12"/>
          </p:nvPr>
        </p:nvSpPr>
        <p:spPr/>
        <p:txBody>
          <a:bodyPr/>
          <a:lstStyle/>
          <a:p>
            <a:fld id="{43C765A3-6ED8-6A4B-AC6D-67ABED6E12B3}" type="slidenum">
              <a:rPr lang="en-US" smtClean="0"/>
              <a:t>‹#›</a:t>
            </a:fld>
            <a:endParaRPr lang="en-US"/>
          </a:p>
        </p:txBody>
      </p:sp>
    </p:spTree>
    <p:extLst>
      <p:ext uri="{BB962C8B-B14F-4D97-AF65-F5344CB8AC3E}">
        <p14:creationId xmlns:p14="http://schemas.microsoft.com/office/powerpoint/2010/main" val="3353162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FE2459E-5E42-F354-AD67-DDDAA091DB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AAF85D-FE33-3CD0-61CA-DE8DA11258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090BB3-DA4A-DB8F-A986-1A6AEBAADA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439227A-EF89-6541-828B-1C350939ACB8}" type="datetimeFigureOut">
              <a:rPr lang="en-US" smtClean="0"/>
              <a:t>2/3/26</a:t>
            </a:fld>
            <a:endParaRPr lang="en-US"/>
          </a:p>
        </p:txBody>
      </p:sp>
      <p:sp>
        <p:nvSpPr>
          <p:cNvPr id="5" name="Footer Placeholder 4">
            <a:extLst>
              <a:ext uri="{FF2B5EF4-FFF2-40B4-BE49-F238E27FC236}">
                <a16:creationId xmlns:a16="http://schemas.microsoft.com/office/drawing/2014/main" id="{8D1D41A8-A9FF-6C9E-450C-A534F31E85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5D5F21-F3BF-4335-E2F2-305B851A3DD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3C765A3-6ED8-6A4B-AC6D-67ABED6E12B3}" type="slidenum">
              <a:rPr lang="en-US" smtClean="0"/>
              <a:t>‹#›</a:t>
            </a:fld>
            <a:endParaRPr lang="en-US"/>
          </a:p>
        </p:txBody>
      </p:sp>
    </p:spTree>
    <p:extLst>
      <p:ext uri="{BB962C8B-B14F-4D97-AF65-F5344CB8AC3E}">
        <p14:creationId xmlns:p14="http://schemas.microsoft.com/office/powerpoint/2010/main" val="15412734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DE0D4E7-66D7-457E-4101-4D38AC4EAF4C}"/>
              </a:ext>
            </a:extLst>
          </p:cNvPr>
          <p:cNvSpPr>
            <a:spLocks noGrp="1"/>
          </p:cNvSpPr>
          <p:nvPr>
            <p:ph type="ctrTitle"/>
          </p:nvPr>
        </p:nvSpPr>
        <p:spPr>
          <a:xfrm>
            <a:off x="6364609" y="4562234"/>
            <a:ext cx="4805996" cy="745530"/>
          </a:xfrm>
        </p:spPr>
        <p:txBody>
          <a:bodyPr anchor="t">
            <a:normAutofit/>
          </a:bodyPr>
          <a:lstStyle/>
          <a:p>
            <a:pPr algn="l"/>
            <a:r>
              <a:rPr lang="en-US" sz="1900" b="1" dirty="0">
                <a:solidFill>
                  <a:srgbClr val="FF032A"/>
                </a:solidFill>
                <a:latin typeface="+mn-lt"/>
              </a:rPr>
              <a:t>Aklank Diwakar</a:t>
            </a:r>
            <a:br>
              <a:rPr lang="en-US" sz="1900" b="1" dirty="0">
                <a:solidFill>
                  <a:srgbClr val="FF032A"/>
                </a:solidFill>
                <a:latin typeface="+mn-lt"/>
              </a:rPr>
            </a:br>
            <a:r>
              <a:rPr lang="en-US" sz="1900" b="1" dirty="0">
                <a:solidFill>
                  <a:srgbClr val="FF032A"/>
                </a:solidFill>
                <a:latin typeface="+mn-lt"/>
              </a:rPr>
              <a:t>Cloud Architect - Oracle</a:t>
            </a:r>
          </a:p>
        </p:txBody>
      </p:sp>
      <p:pic>
        <p:nvPicPr>
          <p:cNvPr id="26" name="Graphic 25" descr="Head with Gears">
            <a:extLst>
              <a:ext uri="{FF2B5EF4-FFF2-40B4-BE49-F238E27FC236}">
                <a16:creationId xmlns:a16="http://schemas.microsoft.com/office/drawing/2014/main" id="{4E1EA321-FA34-E756-7BA9-B1B9AC11AD8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50" name="Group 49">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34" name="Freeform: Shape 33">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Title 1">
            <a:extLst>
              <a:ext uri="{FF2B5EF4-FFF2-40B4-BE49-F238E27FC236}">
                <a16:creationId xmlns:a16="http://schemas.microsoft.com/office/drawing/2014/main" id="{59BDCCA6-A121-F1D3-B408-849D59536E0D}"/>
              </a:ext>
            </a:extLst>
          </p:cNvPr>
          <p:cNvSpPr txBox="1">
            <a:spLocks/>
          </p:cNvSpPr>
          <p:nvPr/>
        </p:nvSpPr>
        <p:spPr>
          <a:xfrm>
            <a:off x="6320793" y="3789226"/>
            <a:ext cx="5870902" cy="129711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IN" sz="1900" b="1" dirty="0">
                <a:solidFill>
                  <a:schemeClr val="tx2"/>
                </a:solidFill>
              </a:rPr>
              <a:t>Building Production-Grade Agentic AI Systems with </a:t>
            </a:r>
            <a:r>
              <a:rPr lang="en-IN" sz="1900" b="1" dirty="0" err="1">
                <a:solidFill>
                  <a:schemeClr val="tx2"/>
                </a:solidFill>
              </a:rPr>
              <a:t>LangGraph</a:t>
            </a:r>
            <a:br>
              <a:rPr lang="en-IN" sz="1900" dirty="0">
                <a:solidFill>
                  <a:schemeClr val="tx2"/>
                </a:solidFill>
              </a:rPr>
            </a:br>
            <a:endParaRPr lang="en-US" sz="1900" dirty="0">
              <a:solidFill>
                <a:schemeClr val="tx2"/>
              </a:solidFill>
            </a:endParaRPr>
          </a:p>
        </p:txBody>
      </p:sp>
    </p:spTree>
    <p:extLst>
      <p:ext uri="{BB962C8B-B14F-4D97-AF65-F5344CB8AC3E}">
        <p14:creationId xmlns:p14="http://schemas.microsoft.com/office/powerpoint/2010/main" val="3487941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0DA6238-5699-F113-71F5-4602FF97D0E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65EC26E-ACC8-1B59-EAD3-44D90224B8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3306EE3-3DF2-6FE7-1D9C-BE9EFD792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97D06BF-35D6-70F0-6B89-E106053E42E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89FDD403-F527-6F7D-484F-50B0F60A87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D5724B5-EBA1-F81B-29AE-76116208D4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B9A33751-BDA9-3388-D48F-B8F0042364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2473A1E-ADC6-FA78-6D50-0458AFAB44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8FF172ED-9C4D-320B-575C-34CD33B83B6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8A1AD2DB-09F7-2F35-4923-8936CDB704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7134CCF-74D4-341E-9E6E-932F1F832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CBE43E20-874B-83AC-9A45-424B3AE25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D34DBF24-D283-11E7-FD9D-D337DFCA80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5E006164-9114-D80D-C79D-5C5B97797ABA}"/>
              </a:ext>
            </a:extLst>
          </p:cNvPr>
          <p:cNvSpPr>
            <a:spLocks noGrp="1"/>
          </p:cNvSpPr>
          <p:nvPr>
            <p:ph idx="1"/>
          </p:nvPr>
        </p:nvSpPr>
        <p:spPr>
          <a:xfrm>
            <a:off x="828457" y="1111904"/>
            <a:ext cx="9833548" cy="5717560"/>
          </a:xfrm>
        </p:spPr>
        <p:txBody>
          <a:bodyPr>
            <a:normAutofit fontScale="25000" lnSpcReduction="20000"/>
          </a:bodyPr>
          <a:lstStyle/>
          <a:p>
            <a:pPr marL="0" indent="0">
              <a:lnSpc>
                <a:spcPct val="120000"/>
              </a:lnSpc>
              <a:buNone/>
            </a:pPr>
            <a:r>
              <a:rPr lang="en-IN" sz="6600" b="1" dirty="0"/>
              <a:t>Why Agentic AI?</a:t>
            </a:r>
            <a:endParaRPr lang="en-IN" sz="6200" b="1" dirty="0"/>
          </a:p>
          <a:p>
            <a:pPr>
              <a:lnSpc>
                <a:spcPct val="120000"/>
              </a:lnSpc>
            </a:pPr>
            <a:r>
              <a:rPr lang="en-IN" sz="6200" b="1" dirty="0"/>
              <a:t>Problem with traditional LLM apps</a:t>
            </a:r>
            <a:endParaRPr lang="en-IN" sz="6200" dirty="0"/>
          </a:p>
          <a:p>
            <a:pPr lvl="1">
              <a:lnSpc>
                <a:spcPct val="120000"/>
              </a:lnSpc>
            </a:pPr>
            <a:r>
              <a:rPr lang="en-IN" sz="5800" dirty="0"/>
              <a:t>Stateless</a:t>
            </a:r>
          </a:p>
          <a:p>
            <a:pPr lvl="1">
              <a:lnSpc>
                <a:spcPct val="120000"/>
              </a:lnSpc>
            </a:pPr>
            <a:r>
              <a:rPr lang="en-IN" sz="5800" dirty="0"/>
              <a:t>One-shot responses</a:t>
            </a:r>
          </a:p>
          <a:p>
            <a:pPr lvl="1">
              <a:lnSpc>
                <a:spcPct val="120000"/>
              </a:lnSpc>
            </a:pPr>
            <a:r>
              <a:rPr lang="en-IN" sz="5800" dirty="0"/>
              <a:t>No decision-making</a:t>
            </a:r>
          </a:p>
          <a:p>
            <a:pPr lvl="1">
              <a:lnSpc>
                <a:spcPct val="120000"/>
              </a:lnSpc>
            </a:pPr>
            <a:r>
              <a:rPr lang="en-IN" sz="5800" dirty="0"/>
              <a:t>No collaboration</a:t>
            </a:r>
          </a:p>
          <a:p>
            <a:pPr>
              <a:lnSpc>
                <a:spcPct val="120000"/>
              </a:lnSpc>
            </a:pPr>
            <a:r>
              <a:rPr lang="en-IN" sz="6200" b="1" dirty="0"/>
              <a:t>What Agentic AI enables</a:t>
            </a:r>
            <a:endParaRPr lang="en-IN" sz="6200" dirty="0"/>
          </a:p>
          <a:p>
            <a:pPr lvl="1">
              <a:lnSpc>
                <a:spcPct val="120000"/>
              </a:lnSpc>
            </a:pPr>
            <a:r>
              <a:rPr lang="en-IN" sz="5800" dirty="0"/>
              <a:t>Reasoning + actions</a:t>
            </a:r>
          </a:p>
          <a:p>
            <a:pPr lvl="1">
              <a:lnSpc>
                <a:spcPct val="120000"/>
              </a:lnSpc>
            </a:pPr>
            <a:r>
              <a:rPr lang="en-IN" sz="5800" dirty="0"/>
              <a:t>Tool usage</a:t>
            </a:r>
          </a:p>
          <a:p>
            <a:pPr lvl="1">
              <a:lnSpc>
                <a:spcPct val="120000"/>
              </a:lnSpc>
            </a:pPr>
            <a:r>
              <a:rPr lang="en-IN" sz="5800" dirty="0"/>
              <a:t>Multi-step workflows</a:t>
            </a:r>
          </a:p>
          <a:p>
            <a:pPr lvl="1">
              <a:lnSpc>
                <a:spcPct val="120000"/>
              </a:lnSpc>
            </a:pPr>
            <a:r>
              <a:rPr lang="en-IN" sz="5800" dirty="0"/>
              <a:t>Autonomous problem solving</a:t>
            </a:r>
          </a:p>
          <a:p>
            <a:pPr>
              <a:lnSpc>
                <a:spcPct val="120000"/>
              </a:lnSpc>
            </a:pPr>
            <a:r>
              <a:rPr lang="en-IN" sz="6200" b="1" dirty="0"/>
              <a:t>What is AI Agents</a:t>
            </a:r>
          </a:p>
          <a:p>
            <a:pPr lvl="1">
              <a:lnSpc>
                <a:spcPct val="120000"/>
              </a:lnSpc>
            </a:pPr>
            <a:r>
              <a:rPr lang="en-IN" sz="5800" dirty="0"/>
              <a:t>LLM</a:t>
            </a:r>
          </a:p>
          <a:p>
            <a:pPr lvl="1">
              <a:lnSpc>
                <a:spcPct val="120000"/>
              </a:lnSpc>
            </a:pPr>
            <a:r>
              <a:rPr lang="en-IN" sz="5800" dirty="0"/>
              <a:t>Tools (Sub-Agent)</a:t>
            </a:r>
          </a:p>
          <a:p>
            <a:pPr lvl="1">
              <a:lnSpc>
                <a:spcPct val="120000"/>
              </a:lnSpc>
            </a:pPr>
            <a:r>
              <a:rPr lang="en-IN" sz="5800" dirty="0"/>
              <a:t>State</a:t>
            </a:r>
          </a:p>
          <a:p>
            <a:pPr lvl="1">
              <a:lnSpc>
                <a:spcPct val="120000"/>
              </a:lnSpc>
            </a:pPr>
            <a:r>
              <a:rPr lang="en-IN" sz="5800" dirty="0"/>
              <a:t>Memory</a:t>
            </a:r>
          </a:p>
          <a:p>
            <a:pPr lvl="1">
              <a:lnSpc>
                <a:spcPct val="120000"/>
              </a:lnSpc>
            </a:pPr>
            <a:r>
              <a:rPr lang="en-IN" sz="5800" dirty="0"/>
              <a:t>Orchestration </a:t>
            </a:r>
          </a:p>
          <a:p>
            <a:pPr marL="0" indent="0">
              <a:lnSpc>
                <a:spcPct val="120000"/>
              </a:lnSpc>
              <a:buNone/>
            </a:pPr>
            <a:r>
              <a:rPr lang="en-IN" sz="6000" dirty="0"/>
              <a:t>User → Agent → Think → Act → Observe → Think → Act → Result</a:t>
            </a:r>
          </a:p>
          <a:p>
            <a:endParaRPr lang="en-IN" sz="6200" dirty="0"/>
          </a:p>
          <a:p>
            <a:endParaRPr lang="en-US" sz="1800" dirty="0">
              <a:solidFill>
                <a:schemeClr val="tx2"/>
              </a:solidFill>
            </a:endParaRPr>
          </a:p>
        </p:txBody>
      </p:sp>
      <p:sp>
        <p:nvSpPr>
          <p:cNvPr id="7" name="Title 4">
            <a:extLst>
              <a:ext uri="{FF2B5EF4-FFF2-40B4-BE49-F238E27FC236}">
                <a16:creationId xmlns:a16="http://schemas.microsoft.com/office/drawing/2014/main" id="{F055A9A4-5EB3-23F5-606D-FB3EDC1080BB}"/>
              </a:ext>
            </a:extLst>
          </p:cNvPr>
          <p:cNvSpPr>
            <a:spLocks noGrp="1"/>
          </p:cNvSpPr>
          <p:nvPr>
            <p:ph type="title"/>
          </p:nvPr>
        </p:nvSpPr>
        <p:spPr>
          <a:xfrm>
            <a:off x="837437" y="8267"/>
            <a:ext cx="10515600" cy="1325563"/>
          </a:xfrm>
        </p:spPr>
        <p:txBody>
          <a:bodyPr>
            <a:normAutofit/>
          </a:bodyPr>
          <a:lstStyle/>
          <a:p>
            <a:r>
              <a:rPr lang="en-IN" sz="3200" dirty="0"/>
              <a:t>Agentic AI</a:t>
            </a:r>
            <a:endParaRPr lang="en-US" sz="3200" dirty="0"/>
          </a:p>
        </p:txBody>
      </p:sp>
    </p:spTree>
    <p:extLst>
      <p:ext uri="{BB962C8B-B14F-4D97-AF65-F5344CB8AC3E}">
        <p14:creationId xmlns:p14="http://schemas.microsoft.com/office/powerpoint/2010/main" val="4065594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0E070EB9-986C-F626-96E5-9FA8A6FEB058}"/>
              </a:ext>
            </a:extLst>
          </p:cNvPr>
          <p:cNvSpPr>
            <a:spLocks noGrp="1"/>
          </p:cNvSpPr>
          <p:nvPr>
            <p:ph idx="1"/>
          </p:nvPr>
        </p:nvSpPr>
        <p:spPr>
          <a:xfrm>
            <a:off x="836674" y="1235908"/>
            <a:ext cx="9833548" cy="5789047"/>
          </a:xfrm>
        </p:spPr>
        <p:txBody>
          <a:bodyPr>
            <a:normAutofit fontScale="85000" lnSpcReduction="20000"/>
          </a:bodyPr>
          <a:lstStyle/>
          <a:p>
            <a:pPr marL="0" indent="0">
              <a:buNone/>
            </a:pPr>
            <a:r>
              <a:rPr lang="en-IN" sz="1600" b="1" dirty="0"/>
              <a:t>What is Machine Learning?</a:t>
            </a:r>
          </a:p>
          <a:p>
            <a:pPr marL="0" indent="0">
              <a:lnSpc>
                <a:spcPct val="120000"/>
              </a:lnSpc>
              <a:buNone/>
            </a:pPr>
            <a:r>
              <a:rPr lang="en-IN" sz="1600" dirty="0"/>
              <a:t>Machine Learning (ML) is a subset of AI where systems learn patterns from data to make predictions or decisions without being explicitly programmed.</a:t>
            </a:r>
          </a:p>
          <a:p>
            <a:r>
              <a:rPr lang="en-IN" sz="1600" dirty="0"/>
              <a:t>Supervised Learning</a:t>
            </a:r>
          </a:p>
          <a:p>
            <a:r>
              <a:rPr lang="en-IN" sz="1600" dirty="0"/>
              <a:t>Unsupervised Learning</a:t>
            </a:r>
          </a:p>
          <a:p>
            <a:r>
              <a:rPr lang="en-IN" sz="1600" dirty="0"/>
              <a:t>Reinforcement Learning</a:t>
            </a:r>
          </a:p>
          <a:p>
            <a:r>
              <a:rPr lang="en-IN" sz="1600" dirty="0"/>
              <a:t>Generative Learning (Modern ML)</a:t>
            </a:r>
          </a:p>
          <a:p>
            <a:endParaRPr lang="en-IN" sz="1600" dirty="0">
              <a:solidFill>
                <a:schemeClr val="tx2"/>
              </a:solidFill>
            </a:endParaRPr>
          </a:p>
          <a:p>
            <a:pPr marL="0" indent="0">
              <a:buNone/>
            </a:pPr>
            <a:r>
              <a:rPr lang="en-IN" sz="1600" b="1" dirty="0"/>
              <a:t>Types of Machine Learning Models</a:t>
            </a:r>
          </a:p>
          <a:p>
            <a:r>
              <a:rPr lang="en-IN" sz="1600" dirty="0"/>
              <a:t>Regression Models</a:t>
            </a:r>
          </a:p>
          <a:p>
            <a:r>
              <a:rPr lang="en-IN" sz="1600" dirty="0"/>
              <a:t>Classification Models</a:t>
            </a:r>
          </a:p>
          <a:p>
            <a:r>
              <a:rPr lang="en-IN" sz="1600" dirty="0"/>
              <a:t>Clustering Models (Unsupervised)</a:t>
            </a:r>
          </a:p>
          <a:p>
            <a:pPr>
              <a:lnSpc>
                <a:spcPct val="120000"/>
              </a:lnSpc>
            </a:pPr>
            <a:r>
              <a:rPr lang="en-IN" sz="1600" dirty="0"/>
              <a:t>Neural Network Models (Deep Learning)</a:t>
            </a:r>
          </a:p>
          <a:p>
            <a:pPr lvl="1">
              <a:lnSpc>
                <a:spcPct val="120000"/>
              </a:lnSpc>
            </a:pPr>
            <a:r>
              <a:rPr lang="en-IN" sz="1600" dirty="0"/>
              <a:t>ANN (Artificial Neural Networks)</a:t>
            </a:r>
          </a:p>
          <a:p>
            <a:pPr lvl="1">
              <a:lnSpc>
                <a:spcPct val="120000"/>
              </a:lnSpc>
            </a:pPr>
            <a:r>
              <a:rPr lang="en-IN" sz="1600" dirty="0"/>
              <a:t>CNN (Convolutional Neural Networks)</a:t>
            </a:r>
          </a:p>
          <a:p>
            <a:pPr lvl="1">
              <a:lnSpc>
                <a:spcPct val="120000"/>
              </a:lnSpc>
            </a:pPr>
            <a:r>
              <a:rPr lang="en-IN" sz="1600" dirty="0"/>
              <a:t>RNN (Recurrent Neural Networks)</a:t>
            </a:r>
          </a:p>
          <a:p>
            <a:pPr lvl="1">
              <a:lnSpc>
                <a:spcPct val="120000"/>
              </a:lnSpc>
            </a:pPr>
            <a:r>
              <a:rPr lang="en-IN" sz="1600" dirty="0"/>
              <a:t>Transformers</a:t>
            </a:r>
          </a:p>
          <a:p>
            <a:pPr lvl="2">
              <a:lnSpc>
                <a:spcPct val="120000"/>
              </a:lnSpc>
            </a:pPr>
            <a:r>
              <a:rPr lang="en-IN" sz="1600" dirty="0"/>
              <a:t>Encoder Only  Model</a:t>
            </a:r>
          </a:p>
          <a:p>
            <a:pPr lvl="2">
              <a:lnSpc>
                <a:spcPct val="120000"/>
              </a:lnSpc>
            </a:pPr>
            <a:r>
              <a:rPr lang="en-IN" sz="1600" dirty="0"/>
              <a:t>Decoder Only  Model</a:t>
            </a:r>
          </a:p>
          <a:p>
            <a:pPr lvl="2">
              <a:lnSpc>
                <a:spcPct val="120000"/>
              </a:lnSpc>
            </a:pPr>
            <a:r>
              <a:rPr lang="en-IN" sz="1600" dirty="0"/>
              <a:t>Encoder-Decoder Model</a:t>
            </a:r>
          </a:p>
          <a:p>
            <a:pPr lvl="1"/>
            <a:endParaRPr lang="en-IN" sz="800" dirty="0"/>
          </a:p>
          <a:p>
            <a:pPr marL="0" indent="0">
              <a:buNone/>
            </a:pPr>
            <a:endParaRPr lang="en-US" sz="1600" b="1" dirty="0"/>
          </a:p>
        </p:txBody>
      </p:sp>
      <p:sp>
        <p:nvSpPr>
          <p:cNvPr id="7" name="Title 4">
            <a:extLst>
              <a:ext uri="{FF2B5EF4-FFF2-40B4-BE49-F238E27FC236}">
                <a16:creationId xmlns:a16="http://schemas.microsoft.com/office/drawing/2014/main" id="{E5DF8883-DC2A-16D8-6B31-1B5A8B3413D8}"/>
              </a:ext>
            </a:extLst>
          </p:cNvPr>
          <p:cNvSpPr>
            <a:spLocks noGrp="1"/>
          </p:cNvSpPr>
          <p:nvPr>
            <p:ph type="title"/>
          </p:nvPr>
        </p:nvSpPr>
        <p:spPr>
          <a:xfrm>
            <a:off x="837437" y="84811"/>
            <a:ext cx="10515600" cy="1325563"/>
          </a:xfrm>
        </p:spPr>
        <p:txBody>
          <a:bodyPr>
            <a:normAutofit/>
          </a:bodyPr>
          <a:lstStyle/>
          <a:p>
            <a:r>
              <a:rPr lang="en-IN" sz="3200" dirty="0"/>
              <a:t>Machine Learning</a:t>
            </a:r>
            <a:endParaRPr lang="en-US" sz="3200" dirty="0"/>
          </a:p>
        </p:txBody>
      </p:sp>
    </p:spTree>
    <p:extLst>
      <p:ext uri="{BB962C8B-B14F-4D97-AF65-F5344CB8AC3E}">
        <p14:creationId xmlns:p14="http://schemas.microsoft.com/office/powerpoint/2010/main" val="4055391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94D8F2-64DC-7765-AE92-7634999932D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00DABD6-B4AF-B738-3B5D-16B00971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4EAEB3F-156C-EEB0-CD50-E9B900F4E6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B6905717-7EE3-0474-1137-81C0A91754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013A6E5A-6D09-9DEF-142A-7421A0E10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6343B94A-FC3F-3C97-B89B-A479032771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7DC45F56-8A46-3A9B-8F4F-2D383C3682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EA4DFE1-E281-5141-3DDD-41ED8F6DD4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20E64705-BF2E-2C53-AB72-E6E2B2307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A70D2F17-8020-16C5-5480-0CC2534A7E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C6A2E5B-36D6-1CDF-0802-2D046AD33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B43572-DDDF-0C2C-F645-1623DA831E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5237393F-991B-162F-6225-8F9191DF54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Content Placeholder 2">
            <a:extLst>
              <a:ext uri="{FF2B5EF4-FFF2-40B4-BE49-F238E27FC236}">
                <a16:creationId xmlns:a16="http://schemas.microsoft.com/office/drawing/2014/main" id="{A339236C-532F-C521-6643-66D42A518907}"/>
              </a:ext>
            </a:extLst>
          </p:cNvPr>
          <p:cNvSpPr>
            <a:spLocks noGrp="1"/>
          </p:cNvSpPr>
          <p:nvPr>
            <p:ph idx="1"/>
          </p:nvPr>
        </p:nvSpPr>
        <p:spPr>
          <a:xfrm>
            <a:off x="838200" y="1788884"/>
            <a:ext cx="9833548" cy="3854747"/>
          </a:xfrm>
        </p:spPr>
        <p:txBody>
          <a:bodyPr>
            <a:normAutofit/>
          </a:bodyPr>
          <a:lstStyle/>
          <a:p>
            <a:pPr>
              <a:lnSpc>
                <a:spcPct val="100000"/>
              </a:lnSpc>
            </a:pPr>
            <a:r>
              <a:rPr lang="en-US" sz="1600" b="1" dirty="0"/>
              <a:t>Real-world scenario: </a:t>
            </a:r>
            <a:r>
              <a:rPr lang="en-IN" sz="1600" dirty="0"/>
              <a:t>An agentic workflow that interprets natural language HR/IT requests (e.g., reset password, assign role, unlock user), decides the correct action with an LLM supervisor, and executes the task through specialized agents while passing shared conversation state across steps. The </a:t>
            </a:r>
            <a:r>
              <a:rPr lang="en-IN" sz="1600" dirty="0" err="1"/>
              <a:t>LangGraph</a:t>
            </a:r>
            <a:r>
              <a:rPr lang="en-IN" sz="1600" dirty="0"/>
              <a:t> workflow ensures context flows deterministically between nodes, demonstrating how to build </a:t>
            </a:r>
            <a:r>
              <a:rPr lang="en-IN" sz="1600" b="1" dirty="0"/>
              <a:t>stateful, multi-agent systems</a:t>
            </a:r>
            <a:r>
              <a:rPr lang="en-IN" sz="1600" dirty="0"/>
              <a:t> in a reproducible pattern ready for extension to production environments.</a:t>
            </a:r>
          </a:p>
          <a:p>
            <a:pPr marL="0" indent="0">
              <a:lnSpc>
                <a:spcPct val="100000"/>
              </a:lnSpc>
              <a:buNone/>
            </a:pPr>
            <a:endParaRPr lang="en-US" sz="1600" b="1" dirty="0"/>
          </a:p>
          <a:p>
            <a:pPr>
              <a:lnSpc>
                <a:spcPct val="100000"/>
              </a:lnSpc>
            </a:pPr>
            <a:r>
              <a:rPr lang="en-US" sz="1600" b="1" dirty="0"/>
              <a:t>Why traditional approaches fall short:</a:t>
            </a:r>
          </a:p>
          <a:p>
            <a:pPr lvl="1">
              <a:lnSpc>
                <a:spcPct val="100000"/>
              </a:lnSpc>
            </a:pPr>
            <a:r>
              <a:rPr lang="en-US" sz="1600" dirty="0"/>
              <a:t>Single LLM calls lack reasoning and tool use
Hardcoded workflows can't adapt to complex queries
No memory or state management across interactions
Limited ability to verify and self-correct outputs</a:t>
            </a:r>
          </a:p>
          <a:p>
            <a:pPr lvl="1"/>
            <a:endParaRPr lang="en-IN" sz="5800" dirty="0"/>
          </a:p>
          <a:p>
            <a:endParaRPr lang="en-IN" sz="6200" dirty="0"/>
          </a:p>
          <a:p>
            <a:endParaRPr lang="en-US" sz="1800" dirty="0">
              <a:solidFill>
                <a:schemeClr val="tx2"/>
              </a:solidFill>
            </a:endParaRPr>
          </a:p>
        </p:txBody>
      </p:sp>
      <p:sp>
        <p:nvSpPr>
          <p:cNvPr id="7" name="Title 4">
            <a:extLst>
              <a:ext uri="{FF2B5EF4-FFF2-40B4-BE49-F238E27FC236}">
                <a16:creationId xmlns:a16="http://schemas.microsoft.com/office/drawing/2014/main" id="{78248857-682C-FDBF-9A6F-B7F46EDB3A81}"/>
              </a:ext>
            </a:extLst>
          </p:cNvPr>
          <p:cNvSpPr>
            <a:spLocks noGrp="1"/>
          </p:cNvSpPr>
          <p:nvPr>
            <p:ph type="title"/>
          </p:nvPr>
        </p:nvSpPr>
        <p:spPr>
          <a:xfrm>
            <a:off x="838200" y="365125"/>
            <a:ext cx="10515600" cy="1325563"/>
          </a:xfrm>
        </p:spPr>
        <p:txBody>
          <a:bodyPr>
            <a:normAutofit/>
          </a:bodyPr>
          <a:lstStyle/>
          <a:p>
            <a:r>
              <a:rPr lang="en-US" sz="3200" dirty="0"/>
              <a:t>Problem Statement &amp; Context</a:t>
            </a:r>
          </a:p>
        </p:txBody>
      </p:sp>
    </p:spTree>
    <p:extLst>
      <p:ext uri="{BB962C8B-B14F-4D97-AF65-F5344CB8AC3E}">
        <p14:creationId xmlns:p14="http://schemas.microsoft.com/office/powerpoint/2010/main" val="856384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215B76-EED3-9FA7-FF1A-19882CD295F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D22AA13-2F7B-19D1-40E2-047ACFDFEF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5B92598-095B-D743-FEC6-E516676AF6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FF5F941D-F049-DFE1-9751-985BBBF9AD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A3B51019-9122-7D1C-AF20-7E90054B4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836EB724-6AFE-905D-41E7-60E7BFA8CF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AC59304-5EFA-F77E-DE75-85515DA47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9269BD51-5E97-6B05-B163-F5419AD08C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F73BDF41-FA7C-350F-B7CF-BAE8266DFD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37C5B533-BC4D-4775-67E1-1C22F44B2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32C2EE88-4D62-C4E2-DF69-AC6BA1B1C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D6BA06D-2262-782F-8388-83505E5418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527E0B84-BA4B-CDDE-8039-CD87D4F9D3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E363CB25-F600-0AEC-4EFF-9E36CD83531F}"/>
              </a:ext>
            </a:extLst>
          </p:cNvPr>
          <p:cNvSpPr>
            <a:spLocks noGrp="1"/>
          </p:cNvSpPr>
          <p:nvPr>
            <p:ph type="title"/>
          </p:nvPr>
        </p:nvSpPr>
        <p:spPr>
          <a:xfrm>
            <a:off x="838200" y="365125"/>
            <a:ext cx="10515600" cy="1325563"/>
          </a:xfrm>
        </p:spPr>
        <p:txBody>
          <a:bodyPr>
            <a:normAutofit/>
          </a:bodyPr>
          <a:lstStyle/>
          <a:p>
            <a:r>
              <a:rPr lang="en-IN" sz="3200" dirty="0"/>
              <a:t>Demo: Fusion HCM Agent - </a:t>
            </a:r>
            <a:r>
              <a:rPr lang="en-IN" sz="3200" dirty="0" err="1"/>
              <a:t>LangGraph</a:t>
            </a:r>
            <a:endParaRPr lang="en-US" sz="3200" dirty="0"/>
          </a:p>
        </p:txBody>
      </p:sp>
      <p:sp>
        <p:nvSpPr>
          <p:cNvPr id="23" name="Rectangle 6">
            <a:extLst>
              <a:ext uri="{FF2B5EF4-FFF2-40B4-BE49-F238E27FC236}">
                <a16:creationId xmlns:a16="http://schemas.microsoft.com/office/drawing/2014/main" id="{64415779-4BE8-C647-C07A-B1C122C3CF35}"/>
              </a:ext>
            </a:extLst>
          </p:cNvPr>
          <p:cNvSpPr>
            <a:spLocks noChangeArrowheads="1"/>
          </p:cNvSpPr>
          <p:nvPr/>
        </p:nvSpPr>
        <p:spPr bwMode="auto">
          <a:xfrm>
            <a:off x="838200" y="1904464"/>
            <a:ext cx="7948961" cy="2369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US" altLang="en-US" sz="1600" dirty="0" err="1"/>
              <a:t>fusion_hcm_agent</a:t>
            </a:r>
            <a:r>
              <a:rPr lang="en-US" altLang="en-US" sz="1600" dirty="0"/>
              <a: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state.py</a:t>
            </a:r>
            <a:r>
              <a:rPr lang="en-US" altLang="en-US" sz="1600" dirty="0"/>
              <a:t>          	← The shared state (most important!)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supervisor.py</a:t>
            </a:r>
            <a:r>
              <a:rPr lang="en-US" altLang="en-US" sz="1600" dirty="0"/>
              <a:t>     	← The "brain" that decides what to do</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agents.py</a:t>
            </a:r>
            <a:r>
              <a:rPr lang="en-US" altLang="en-US" sz="1600" dirty="0"/>
              <a:t>         	← Three simple worker agents</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workflow.py</a:t>
            </a:r>
            <a:r>
              <a:rPr lang="en-US" altLang="en-US" sz="1600" dirty="0"/>
              <a:t>       	← Connects everything with </a:t>
            </a:r>
            <a:r>
              <a:rPr lang="en-US" altLang="en-US" sz="1600" dirty="0" err="1"/>
              <a:t>LangGraph</a:t>
            </a:r>
            <a:endParaRPr lang="en-US" altLang="en-US" sz="1600" dirty="0"/>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main.py</a:t>
            </a:r>
            <a:r>
              <a:rPr lang="en-US" altLang="en-US" sz="1600" dirty="0"/>
              <a:t>           	← Run this to try it out!</a:t>
            </a:r>
          </a:p>
          <a:p>
            <a:pPr marL="285750" indent="-285750" eaLnBrk="0" fontAlgn="base" hangingPunct="0">
              <a:spcBef>
                <a:spcPct val="0"/>
              </a:spcBef>
              <a:spcAft>
                <a:spcPct val="0"/>
              </a:spcAft>
              <a:buFont typeface="Arial" panose="020B0604020202020204" pitchFamily="34" charset="0"/>
              <a:buChar char="•"/>
            </a:pPr>
            <a:r>
              <a:rPr lang="en-US" altLang="en-US" sz="1600" dirty="0"/>
              <a:t>└── </a:t>
            </a:r>
            <a:r>
              <a:rPr lang="en-US" altLang="en-US" sz="1600" dirty="0" err="1"/>
              <a:t>requirements.txt</a:t>
            </a:r>
            <a:r>
              <a:rPr lang="en-US" altLang="en-US" sz="1600" dirty="0"/>
              <a:t>  	← Dependencies</a:t>
            </a:r>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3257645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5D693C-2D38-7F0F-0AD5-6C906F58949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DA33FB0-7E8C-C814-A2EC-85A4139A48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9457122-51F7-022A-F606-706B7F8078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E4DB6E07-3F61-FC5D-F89F-C25CE2140EB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42367378-6BAE-74D6-120C-BC75A7A08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DC3DAE08-0106-AE46-99B3-66823C19FA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BD65E734-9807-28C2-7C51-B4A958C6B5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6C24599-A61C-608C-3CCB-166B9095D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A9CD51C9-DC50-37FB-9AF4-B64C0EE78DC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AD1761A2-4165-7477-31F4-93A04CF7BF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4203BE-F941-B54C-037A-86871BF5B2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C75B425C-4703-DA0B-4846-FEC1D4055E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34F0EA48-D5B5-9187-D23B-CDF14F7E8F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BD909382-7C61-5B7B-1A88-01C64C98DD56}"/>
              </a:ext>
            </a:extLst>
          </p:cNvPr>
          <p:cNvSpPr>
            <a:spLocks noGrp="1"/>
          </p:cNvSpPr>
          <p:nvPr>
            <p:ph type="title"/>
          </p:nvPr>
        </p:nvSpPr>
        <p:spPr>
          <a:xfrm>
            <a:off x="838200" y="365125"/>
            <a:ext cx="10515600" cy="1325563"/>
          </a:xfrm>
        </p:spPr>
        <p:txBody>
          <a:bodyPr>
            <a:normAutofit/>
          </a:bodyPr>
          <a:lstStyle/>
          <a:p>
            <a:r>
              <a:rPr lang="en-IN" sz="3200" dirty="0"/>
              <a:t>Agent Evaluation &amp; Optimization</a:t>
            </a:r>
            <a:endParaRPr lang="en-US" sz="3200" dirty="0"/>
          </a:p>
        </p:txBody>
      </p:sp>
      <p:sp>
        <p:nvSpPr>
          <p:cNvPr id="23" name="Rectangle 6">
            <a:extLst>
              <a:ext uri="{FF2B5EF4-FFF2-40B4-BE49-F238E27FC236}">
                <a16:creationId xmlns:a16="http://schemas.microsoft.com/office/drawing/2014/main" id="{DB62A6D2-533C-65B1-0300-DC4B1104614E}"/>
              </a:ext>
            </a:extLst>
          </p:cNvPr>
          <p:cNvSpPr>
            <a:spLocks noChangeArrowheads="1"/>
          </p:cNvSpPr>
          <p:nvPr/>
        </p:nvSpPr>
        <p:spPr bwMode="auto">
          <a:xfrm>
            <a:off x="838200" y="1761107"/>
            <a:ext cx="3544229" cy="3893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500" b="0" i="0" u="none" strike="noStrike" cap="none" normalizeH="0" baseline="0" dirty="0">
              <a:ln>
                <a:noFill/>
              </a:ln>
              <a:solidFill>
                <a:schemeClr val="tx1"/>
              </a:solidFill>
              <a:effectLst/>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lang="en-IN" sz="1600" b="1" dirty="0">
                <a:latin typeface="Arial" panose="020B0604020202020204" pitchFamily="34" charset="0"/>
              </a:rPr>
              <a:t>Evaluating Agentic Systems</a:t>
            </a:r>
          </a:p>
          <a:p>
            <a:pPr marL="285750" lvl="0" indent="-285750" eaLnBrk="0" fontAlgn="base" hangingPunct="0">
              <a:spcBef>
                <a:spcPct val="0"/>
              </a:spcBef>
              <a:spcAft>
                <a:spcPct val="0"/>
              </a:spcAft>
              <a:buFont typeface="Arial" panose="020B0604020202020204" pitchFamily="34" charset="0"/>
              <a:buChar char="•"/>
            </a:pPr>
            <a:endParaRPr lang="en-US" altLang="en-US" sz="1600" b="1"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Accuracy</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Latency</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Tool success rate</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Cost</a:t>
            </a:r>
          </a:p>
          <a:p>
            <a:pPr marL="742950" lvl="1" indent="-285750" eaLnBrk="0" fontAlgn="base" hangingPunct="0">
              <a:spcBef>
                <a:spcPct val="0"/>
              </a:spcBef>
              <a:spcAft>
                <a:spcPct val="0"/>
              </a:spcAft>
              <a:buFont typeface="Arial" panose="020B0604020202020204" pitchFamily="34" charset="0"/>
              <a:buChar char="•"/>
            </a:pPr>
            <a:endParaRPr lang="en-US" altLang="en-US" sz="1500" dirty="0">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IN" sz="1600" b="1" dirty="0">
                <a:latin typeface="Arial" panose="020B0604020202020204" pitchFamily="34" charset="0"/>
              </a:rPr>
              <a:t>Optimization Techniques</a:t>
            </a:r>
          </a:p>
          <a:p>
            <a:pPr marL="285750" indent="-285750" eaLnBrk="0" fontAlgn="base" hangingPunct="0">
              <a:spcBef>
                <a:spcPct val="0"/>
              </a:spcBef>
              <a:spcAft>
                <a:spcPct val="0"/>
              </a:spcAft>
              <a:buFont typeface="Arial" panose="020B0604020202020204" pitchFamily="34" charset="0"/>
              <a:buChar char="•"/>
            </a:pPr>
            <a:endParaRPr lang="en-US" altLang="en-US" sz="1600" b="1"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Prompt tuning</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Tool constraints</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Parallel execution</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Caching</a:t>
            </a:r>
          </a:p>
          <a:p>
            <a:pPr marL="742950" lvl="1" indent="-285750" eaLnBrk="0" fontAlgn="base" hangingPunct="0">
              <a:spcBef>
                <a:spcPct val="0"/>
              </a:spcBef>
              <a:spcAft>
                <a:spcPct val="0"/>
              </a:spcAft>
              <a:buFont typeface="Arial" panose="020B0604020202020204" pitchFamily="34" charset="0"/>
              <a:buChar char="•"/>
            </a:pPr>
            <a:r>
              <a:rPr lang="en-US" altLang="en-US" sz="1500" dirty="0">
                <a:latin typeface="Arial" panose="020B0604020202020204" pitchFamily="34" charset="0"/>
              </a:rPr>
              <a:t>Guardrails</a:t>
            </a:r>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4011547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85232E-BC82-AF5B-BF19-E7D79C4A795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86EF4BC-B68B-B313-78C9-F4F0D6884B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55D866-BEF9-04D8-6833-CED156C4F5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49D99C3-9A7E-1A2C-2FBC-EA9013CEF1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4D32388-18BA-752D-7C91-27FC2B6347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1DD9796C-CA92-0275-CEC8-04D475F3B7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B31D1BF-8552-83DF-05DD-4B6F660B1E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B51F22E1-EFF4-5855-5B54-300AB8ED3F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71B828FD-36B2-5BAD-8FD7-0C194E4B9E6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E1A3193C-59A1-5D6B-0602-AD29E48C98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41A1C475-3309-E60F-C6E9-A6CB4653D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2B7D4D95-242F-0D48-9611-3F077D9884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8F6B14BD-5E52-B876-9EFE-153FC59FDA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2E3984AE-888A-AEF1-8A3E-7B7174A8A38F}"/>
              </a:ext>
            </a:extLst>
          </p:cNvPr>
          <p:cNvSpPr>
            <a:spLocks noGrp="1"/>
          </p:cNvSpPr>
          <p:nvPr>
            <p:ph type="title"/>
          </p:nvPr>
        </p:nvSpPr>
        <p:spPr>
          <a:xfrm>
            <a:off x="838200" y="365125"/>
            <a:ext cx="10515600" cy="1325563"/>
          </a:xfrm>
        </p:spPr>
        <p:txBody>
          <a:bodyPr>
            <a:normAutofit/>
          </a:bodyPr>
          <a:lstStyle/>
          <a:p>
            <a:r>
              <a:rPr lang="en-US" sz="3200" dirty="0"/>
              <a:t>Guardrails &amp; Safety Measures</a:t>
            </a:r>
          </a:p>
        </p:txBody>
      </p:sp>
      <p:sp>
        <p:nvSpPr>
          <p:cNvPr id="23" name="Rectangle 6">
            <a:extLst>
              <a:ext uri="{FF2B5EF4-FFF2-40B4-BE49-F238E27FC236}">
                <a16:creationId xmlns:a16="http://schemas.microsoft.com/office/drawing/2014/main" id="{5CEBB9FE-CE22-5AD1-7E57-C2DCEF149FEC}"/>
              </a:ext>
            </a:extLst>
          </p:cNvPr>
          <p:cNvSpPr>
            <a:spLocks noChangeArrowheads="1"/>
          </p:cNvSpPr>
          <p:nvPr/>
        </p:nvSpPr>
        <p:spPr bwMode="auto">
          <a:xfrm>
            <a:off x="837437" y="1628323"/>
            <a:ext cx="5388980" cy="484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indent="-285750" eaLnBrk="0" fontAlgn="base" hangingPunct="0">
              <a:spcBef>
                <a:spcPct val="0"/>
              </a:spcBef>
              <a:spcAft>
                <a:spcPct val="0"/>
              </a:spcAft>
              <a:buFont typeface="Arial" panose="020B0604020202020204" pitchFamily="34" charset="0"/>
              <a:buChar char="•"/>
            </a:pPr>
            <a:r>
              <a:rPr lang="en-US" sz="1600" b="1" dirty="0">
                <a:latin typeface="Arial" panose="020B0604020202020204" pitchFamily="34" charset="0"/>
              </a:rPr>
              <a:t>Input Validation</a:t>
            </a:r>
          </a:p>
          <a:p>
            <a:pPr marL="742950" lvl="1" indent="-285750">
              <a:buFont typeface="Arial" panose="020B0604020202020204" pitchFamily="34" charset="0"/>
              <a:buChar char="•"/>
            </a:pPr>
            <a:endParaRPr lang="en-US" sz="1500" dirty="0">
              <a:solidFill>
                <a:srgbClr val="2C2C2C"/>
              </a:solidFill>
              <a:latin typeface="Calibri" pitchFamily="34" charset="0"/>
              <a:cs typeface="Calibri" pitchFamily="34" charset="-120"/>
            </a:endParaRP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SQL injection prevention</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Length and format validation</a:t>
            </a:r>
          </a:p>
          <a:p>
            <a:pPr marL="742950" lvl="1" indent="-285750">
              <a:buFont typeface="Arial" panose="020B0604020202020204" pitchFamily="34" charset="0"/>
              <a:buChar char="•"/>
            </a:pPr>
            <a:r>
              <a:rPr lang="en-US" sz="1500" dirty="0">
                <a:solidFill>
                  <a:srgbClr val="2C2C2C"/>
                </a:solidFill>
                <a:latin typeface="Calibri" pitchFamily="34" charset="0"/>
                <a:ea typeface="Calibri" pitchFamily="34" charset="-122"/>
                <a:cs typeface="Calibri" pitchFamily="34" charset="-120"/>
              </a:rPr>
              <a:t>Prompt injection detection</a:t>
            </a:r>
          </a:p>
          <a:p>
            <a:pPr marL="742950" lvl="1" indent="-285750">
              <a:buFont typeface="Arial" panose="020B0604020202020204" pitchFamily="34" charset="0"/>
              <a:buChar char="•"/>
            </a:pPr>
            <a:endParaRPr lang="en-US" sz="1500" dirty="0">
              <a:solidFill>
                <a:srgbClr val="2C2C2C"/>
              </a:solidFill>
              <a:latin typeface="Calibri" pitchFamily="34" charset="0"/>
              <a:cs typeface="Calibri" pitchFamily="34" charset="-120"/>
            </a:endParaRPr>
          </a:p>
          <a:p>
            <a:pPr indent="-285750">
              <a:buFont typeface="Arial" panose="020B0604020202020204" pitchFamily="34" charset="0"/>
              <a:buChar char="•"/>
            </a:pPr>
            <a:r>
              <a:rPr lang="en-US" sz="1600" b="1" dirty="0">
                <a:latin typeface="Arial" panose="020B0604020202020204" pitchFamily="34" charset="0"/>
              </a:rPr>
              <a:t>Output Filtering</a:t>
            </a:r>
          </a:p>
          <a:p>
            <a:endParaRPr lang="en-US" sz="1500" dirty="0">
              <a:latin typeface="Arial" panose="020B0604020202020204" pitchFamily="34" charset="0"/>
            </a:endParaRP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PII detection and masking</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Toxicity filtering</a:t>
            </a:r>
          </a:p>
          <a:p>
            <a:pPr marL="742950" lvl="1" indent="-285750">
              <a:buFont typeface="Arial" panose="020B0604020202020204" pitchFamily="34" charset="0"/>
              <a:buChar char="•"/>
            </a:pPr>
            <a:r>
              <a:rPr lang="en-US" sz="1500" dirty="0">
                <a:solidFill>
                  <a:srgbClr val="2C2C2C"/>
                </a:solidFill>
                <a:latin typeface="Calibri" pitchFamily="34" charset="0"/>
                <a:cs typeface="Calibri" pitchFamily="34" charset="-120"/>
              </a:rPr>
              <a:t>Factual consistency checks</a:t>
            </a:r>
          </a:p>
          <a:p>
            <a:pPr lvl="1" eaLnBrk="0" fontAlgn="base" hangingPunct="0">
              <a:spcBef>
                <a:spcPct val="0"/>
              </a:spcBef>
              <a:spcAft>
                <a:spcPct val="0"/>
              </a:spcAft>
            </a:pPr>
            <a:endParaRPr lang="en-US" sz="1500" dirty="0"/>
          </a:p>
          <a:p>
            <a:pPr marL="0" lvl="1" indent="-285750" fontAlgn="base">
              <a:spcBef>
                <a:spcPct val="0"/>
              </a:spcBef>
              <a:spcAft>
                <a:spcPct val="0"/>
              </a:spcAft>
              <a:buFont typeface="Arial" panose="020B0604020202020204" pitchFamily="34" charset="0"/>
              <a:buChar char="•"/>
            </a:pPr>
            <a:r>
              <a:rPr lang="en-US" sz="1600" b="1" dirty="0">
                <a:latin typeface="Arial" panose="020B0604020202020204" pitchFamily="34" charset="0"/>
              </a:rPr>
              <a:t>Operational Limits</a:t>
            </a:r>
          </a:p>
          <a:p>
            <a:pPr marL="0" lvl="1" fontAlgn="base">
              <a:spcBef>
                <a:spcPct val="0"/>
              </a:spcBef>
              <a:spcAft>
                <a:spcPct val="0"/>
              </a:spcAft>
            </a:pPr>
            <a:endParaRPr lang="en-US" sz="15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Max execution time (30s timeout)</a:t>
            </a:r>
            <a:endParaRPr lang="en-US" altLang="en-US" sz="1500" dirty="0">
              <a:solidFill>
                <a:srgbClr val="2C2C2C"/>
              </a:solidFill>
              <a:latin typeface="Calibri" pitchFamily="34" charset="0"/>
              <a:cs typeface="Calibri" pitchFamily="34" charset="-120"/>
            </a:endParaRP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Token budget enforcement</a:t>
            </a:r>
          </a:p>
          <a:p>
            <a:pPr marL="742950" lvl="1" indent="-285750" eaLnBrk="0" fontAlgn="base" hangingPunct="0">
              <a:spcBef>
                <a:spcPct val="0"/>
              </a:spcBef>
              <a:spcAft>
                <a:spcPct val="0"/>
              </a:spcAft>
              <a:buFont typeface="Arial" panose="020B0604020202020204" pitchFamily="34" charset="0"/>
              <a:buChar char="•"/>
            </a:pPr>
            <a:r>
              <a:rPr lang="en-US" sz="1500" dirty="0">
                <a:solidFill>
                  <a:srgbClr val="2C2C2C"/>
                </a:solidFill>
                <a:latin typeface="Calibri" pitchFamily="34" charset="0"/>
                <a:cs typeface="Calibri" pitchFamily="34" charset="-120"/>
              </a:rPr>
              <a:t>Rate limiting per user</a:t>
            </a:r>
          </a:p>
          <a:p>
            <a:pPr marL="285750" indent="-285750" eaLnBrk="0" fontAlgn="base" hangingPunct="0">
              <a:spcBef>
                <a:spcPct val="0"/>
              </a:spcBef>
              <a:spcAft>
                <a:spcPct val="0"/>
              </a:spcAft>
              <a:buFont typeface="Arial" panose="020B0604020202020204" pitchFamily="34" charset="0"/>
              <a:buChar char="•"/>
            </a:pPr>
            <a:endParaRPr lang="en-US" dirty="0"/>
          </a:p>
          <a:p>
            <a:pPr marL="285750" indent="-285750" eaLnBrk="0" fontAlgn="base" hangingPunct="0">
              <a:spcBef>
                <a:spcPct val="0"/>
              </a:spcBef>
              <a:spcAft>
                <a:spcPct val="0"/>
              </a:spcAft>
              <a:buFont typeface="Arial" panose="020B0604020202020204" pitchFamily="34" charset="0"/>
              <a:buChar char="•"/>
            </a:pPr>
            <a:endParaRPr lang="en-US" altLang="en-US" dirty="0">
              <a:latin typeface="Arial" panose="020B0604020202020204" pitchFamily="34" charset="0"/>
            </a:endParaRPr>
          </a:p>
        </p:txBody>
      </p:sp>
    </p:spTree>
    <p:extLst>
      <p:ext uri="{BB962C8B-B14F-4D97-AF65-F5344CB8AC3E}">
        <p14:creationId xmlns:p14="http://schemas.microsoft.com/office/powerpoint/2010/main" val="29147402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9BF1C28-EFEB-3104-9697-F01B82F6863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1F03C3C-3F43-3E41-2F99-DAB9B9F680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CCFFFE1-81B3-E0D1-F623-FDD1B39F53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8F6E3C91-BA8A-2BA4-6887-B2585AA95A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87EBE91A-0EE3-0F81-6CAB-226C590EA6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8D73F7C-DFDB-D25C-F344-713E6D28D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26C339B-CD35-2DA5-2309-9392039208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755724CA-B9A8-EE83-291F-6475BCFE80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6B7B2B6F-86DA-57E1-0B55-9A88095C8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371434B9-25D8-6F3D-63F9-6F7E3581A3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F76156F4-0194-29AC-2CB0-2107E35102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7E59400C-2430-A5EC-C46D-B9F0316086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AC0C907E-A4AF-09F0-316F-D0649B485D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1F9EEE21-A679-8C8D-E77F-C8AD3F030F36}"/>
              </a:ext>
            </a:extLst>
          </p:cNvPr>
          <p:cNvSpPr>
            <a:spLocks noGrp="1"/>
          </p:cNvSpPr>
          <p:nvPr>
            <p:ph type="title"/>
          </p:nvPr>
        </p:nvSpPr>
        <p:spPr>
          <a:xfrm>
            <a:off x="838200" y="365125"/>
            <a:ext cx="10515600" cy="1325563"/>
          </a:xfrm>
        </p:spPr>
        <p:txBody>
          <a:bodyPr>
            <a:normAutofit/>
          </a:bodyPr>
          <a:lstStyle/>
          <a:p>
            <a:r>
              <a:rPr lang="en-IN" sz="3200" dirty="0"/>
              <a:t>Deployment &amp; Scaling</a:t>
            </a:r>
            <a:endParaRPr lang="en-US" sz="3200" dirty="0"/>
          </a:p>
        </p:txBody>
      </p:sp>
      <p:sp>
        <p:nvSpPr>
          <p:cNvPr id="2" name="Rectangle 1">
            <a:extLst>
              <a:ext uri="{FF2B5EF4-FFF2-40B4-BE49-F238E27FC236}">
                <a16:creationId xmlns:a16="http://schemas.microsoft.com/office/drawing/2014/main" id="{622124CF-2EC9-44CA-D38E-21620AB367AE}"/>
              </a:ext>
            </a:extLst>
          </p:cNvPr>
          <p:cNvSpPr>
            <a:spLocks noChangeArrowheads="1"/>
          </p:cNvSpPr>
          <p:nvPr/>
        </p:nvSpPr>
        <p:spPr bwMode="auto">
          <a:xfrm>
            <a:off x="837437" y="1668670"/>
            <a:ext cx="8837037" cy="42780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Containerization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Stateless agents (From Infrastructure points)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External memory (DB / Vector store)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Horizontal scaling</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Secure secrets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lang="en-US" altLang="en-US" sz="1600" dirty="0">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lang="en-US" altLang="en-US" sz="1600" dirty="0">
              <a:latin typeface="Arial" panose="020B0604020202020204" pitchFamily="34" charset="0"/>
            </a:endParaRPr>
          </a:p>
          <a:p>
            <a:r>
              <a:rPr lang="en-IN" sz="1600" b="1" dirty="0"/>
              <a:t>One Core Problem:</a:t>
            </a:r>
          </a:p>
          <a:p>
            <a:r>
              <a:rPr lang="en-IN" sz="1600" dirty="0"/>
              <a:t>In Kubernetes / ECS / OCI OKE:</a:t>
            </a:r>
          </a:p>
          <a:p>
            <a:r>
              <a:rPr lang="en-IN" sz="1600" dirty="0"/>
              <a:t>Requests are load-balanced</a:t>
            </a:r>
          </a:p>
          <a:p>
            <a:r>
              <a:rPr lang="en-IN" sz="1600" dirty="0"/>
              <a:t>Each request can hit a </a:t>
            </a:r>
            <a:r>
              <a:rPr lang="en-IN" sz="1600" b="1" dirty="0"/>
              <a:t>different pod</a:t>
            </a:r>
            <a:endParaRPr lang="en-IN" sz="1600" dirty="0"/>
          </a:p>
          <a:p>
            <a:r>
              <a:rPr lang="en-IN" sz="1600" dirty="0"/>
              <a:t>Pods are stateless</a:t>
            </a:r>
          </a:p>
          <a:p>
            <a:r>
              <a:rPr lang="en-IN" sz="1600" dirty="0"/>
              <a:t>In-memory context is lost</a:t>
            </a:r>
          </a:p>
          <a:p>
            <a:r>
              <a:rPr lang="en-IN" sz="1600" dirty="0"/>
              <a:t>So…</a:t>
            </a:r>
          </a:p>
          <a:p>
            <a:r>
              <a:rPr lang="en-IN" sz="1600" dirty="0"/>
              <a:t>❓ </a:t>
            </a:r>
            <a:r>
              <a:rPr lang="en-IN" sz="1600" i="1" dirty="0"/>
              <a:t>How does the agent remember previous messages?</a:t>
            </a:r>
            <a:endParaRPr lang="en-IN" sz="1600"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36966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7299DC-2D6D-8C24-A606-998E59E2049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E609F0-74B6-6E2D-92D4-D8E2A9DE0F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566657C-5A67-E441-0354-4E9CD41098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CD436258-FB65-47C2-D37C-5F67CE951CD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AD18BB72-CB8D-F204-224B-65BFBF138C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2F4AE8DD-07CB-B1F8-5A44-1D9DA654B1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5131E4E9-9F39-8928-2218-AF4FAAA12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D4DC30B7-5DBF-22F8-59D6-93BA0B5DE0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27420E6D-6805-8C5C-35D9-83ADA605DE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C3DFD6C6-3401-347D-8562-40D33C55A5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B6B11B4-BC81-CEBF-FA38-CFE9813E91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94E7511E-1A6A-011B-930F-EBBE8EC02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0F6BD5EF-D953-5904-12C4-F377EB9262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7" name="Title 4">
            <a:extLst>
              <a:ext uri="{FF2B5EF4-FFF2-40B4-BE49-F238E27FC236}">
                <a16:creationId xmlns:a16="http://schemas.microsoft.com/office/drawing/2014/main" id="{93B89421-963C-948B-0602-81C58130F92F}"/>
              </a:ext>
            </a:extLst>
          </p:cNvPr>
          <p:cNvSpPr>
            <a:spLocks noGrp="1"/>
          </p:cNvSpPr>
          <p:nvPr>
            <p:ph type="title"/>
          </p:nvPr>
        </p:nvSpPr>
        <p:spPr>
          <a:xfrm>
            <a:off x="838200" y="365125"/>
            <a:ext cx="10515600" cy="1325563"/>
          </a:xfrm>
        </p:spPr>
        <p:txBody>
          <a:bodyPr>
            <a:normAutofit/>
          </a:bodyPr>
          <a:lstStyle/>
          <a:p>
            <a:r>
              <a:rPr lang="en-US" sz="3200" b="1" dirty="0">
                <a:solidFill>
                  <a:srgbClr val="2C2C2C"/>
                </a:solidFill>
                <a:latin typeface="Calibri" pitchFamily="34" charset="0"/>
                <a:ea typeface="Calibri" pitchFamily="34" charset="-122"/>
                <a:cs typeface="Calibri" pitchFamily="34" charset="-120"/>
              </a:rPr>
              <a:t>Documentation:</a:t>
            </a:r>
            <a:endParaRPr lang="en-US" sz="3200" dirty="0"/>
          </a:p>
        </p:txBody>
      </p:sp>
      <p:sp>
        <p:nvSpPr>
          <p:cNvPr id="2" name="Rectangle 1">
            <a:extLst>
              <a:ext uri="{FF2B5EF4-FFF2-40B4-BE49-F238E27FC236}">
                <a16:creationId xmlns:a16="http://schemas.microsoft.com/office/drawing/2014/main" id="{028DFF4B-7311-D485-F7C8-B5F75147004E}"/>
              </a:ext>
            </a:extLst>
          </p:cNvPr>
          <p:cNvSpPr>
            <a:spLocks noChangeArrowheads="1"/>
          </p:cNvSpPr>
          <p:nvPr/>
        </p:nvSpPr>
        <p:spPr bwMode="auto">
          <a:xfrm>
            <a:off x="838200" y="1606807"/>
            <a:ext cx="8837037" cy="1538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sz="2000" b="1" dirty="0">
                <a:solidFill>
                  <a:srgbClr val="2C2C2C"/>
                </a:solidFill>
                <a:latin typeface="Calibri" pitchFamily="34" charset="0"/>
                <a:ea typeface="Calibri" pitchFamily="34" charset="-122"/>
                <a:cs typeface="Calibri" pitchFamily="34" charset="-120"/>
              </a:rPr>
              <a:t>
</a:t>
            </a:r>
          </a:p>
          <a:p>
            <a:pPr marL="285750" lvl="0" indent="-285750" eaLnBrk="0" fontAlgn="base" hangingPunct="0">
              <a:spcBef>
                <a:spcPct val="0"/>
              </a:spcBef>
              <a:spcAft>
                <a:spcPct val="0"/>
              </a:spcAft>
              <a:buFont typeface="Arial" panose="020B0604020202020204" pitchFamily="34" charset="0"/>
              <a:buChar char="•"/>
            </a:pPr>
            <a:r>
              <a:rPr lang="en-US" dirty="0" err="1">
                <a:solidFill>
                  <a:srgbClr val="2C2C2C"/>
                </a:solidFill>
                <a:latin typeface="Calibri" pitchFamily="34" charset="0"/>
                <a:ea typeface="Calibri" pitchFamily="34" charset="-122"/>
                <a:cs typeface="Calibri" pitchFamily="34" charset="-120"/>
              </a:rPr>
              <a:t>LangGraph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langchain-ai.github.io</a:t>
            </a:r>
            <a:r>
              <a:rPr lang="en-US" dirty="0">
                <a:solidFill>
                  <a:srgbClr val="2C2C2C"/>
                </a:solidFill>
                <a:latin typeface="Calibri" pitchFamily="34" charset="0"/>
                <a:ea typeface="Calibri" pitchFamily="34" charset="-122"/>
                <a:cs typeface="Calibri" pitchFamily="34" charset="-120"/>
              </a:rPr>
              <a:t>/</a:t>
            </a:r>
            <a:r>
              <a:rPr lang="en-US" dirty="0" err="1">
                <a:solidFill>
                  <a:srgbClr val="2C2C2C"/>
                </a:solidFill>
                <a:latin typeface="Calibri" pitchFamily="34" charset="0"/>
                <a:ea typeface="Calibri" pitchFamily="34" charset="-122"/>
                <a:cs typeface="Calibri" pitchFamily="34" charset="-120"/>
              </a:rPr>
              <a:t>langgraph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LangChain</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python.langchain.com</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LangSmith</a:t>
            </a:r>
            <a:r>
              <a:rPr lang="en-US" dirty="0">
                <a:solidFill>
                  <a:srgbClr val="2C2C2C"/>
                </a:solidFill>
                <a:latin typeface="Calibri" pitchFamily="34" charset="0"/>
                <a:ea typeface="Calibri" pitchFamily="34" charset="-122"/>
                <a:cs typeface="Calibri" pitchFamily="34" charset="-120"/>
              </a:rPr>
              <a:t>: </a:t>
            </a:r>
            <a:r>
              <a:rPr lang="en-US" dirty="0" err="1">
                <a:solidFill>
                  <a:srgbClr val="2C2C2C"/>
                </a:solidFill>
                <a:latin typeface="Calibri" pitchFamily="34" charset="0"/>
                <a:ea typeface="Calibri" pitchFamily="34" charset="-122"/>
                <a:cs typeface="Calibri" pitchFamily="34" charset="-120"/>
              </a:rPr>
              <a:t>smith.langchain.com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190614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98490B-56A7-7731-242E-9250F21B49C0}"/>
            </a:ext>
          </a:extLst>
        </p:cNvPr>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2E1BF3D-80A2-7DEF-309B-174D955E66EC}"/>
              </a:ext>
            </a:extLst>
          </p:cNvPr>
          <p:cNvSpPr txBox="1"/>
          <p:nvPr/>
        </p:nvSpPr>
        <p:spPr>
          <a:xfrm>
            <a:off x="2448141" y="1361911"/>
            <a:ext cx="4977578" cy="3639289"/>
          </a:xfrm>
          <a:prstGeom prst="rect">
            <a:avLst/>
          </a:prstGeom>
        </p:spPr>
        <p:txBody>
          <a:bodyPr vert="horz" lIns="91440" tIns="45720" rIns="91440" bIns="45720" rtlCol="0" anchor="ctr">
            <a:normAutofit/>
          </a:bodyPr>
          <a:lstStyle/>
          <a:p>
            <a:pPr>
              <a:lnSpc>
                <a:spcPct val="90000"/>
              </a:lnSpc>
              <a:spcAft>
                <a:spcPts val="600"/>
              </a:spcAft>
            </a:pPr>
            <a:r>
              <a:rPr lang="en-US" sz="2800" dirty="0">
                <a:solidFill>
                  <a:schemeClr val="tx2"/>
                </a:solidFill>
              </a:rPr>
              <a:t>Thank You</a:t>
            </a:r>
          </a:p>
        </p:txBody>
      </p:sp>
      <p:grpSp>
        <p:nvGrpSpPr>
          <p:cNvPr id="33" name="Group 32">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34" name="Freeform: Shape 33">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6" name="Graphic 25" descr="Smiling Face with No Fill">
            <a:extLst>
              <a:ext uri="{FF2B5EF4-FFF2-40B4-BE49-F238E27FC236}">
                <a16:creationId xmlns:a16="http://schemas.microsoft.com/office/drawing/2014/main" id="{E6C9D0F4-9EE3-3683-92AF-8C0CE0C3348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35206538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c76ce46-357f-46de-88d6-77b9bbb83c46}" enabled="1" method="Privileged" siteId="{4e2c6054-71cb-48f1-bd6c-3a9705aca71b}" contentBits="0" removed="0"/>
</clbl:labelList>
</file>

<file path=docProps/app.xml><?xml version="1.0" encoding="utf-8"?>
<Properties xmlns="http://schemas.openxmlformats.org/officeDocument/2006/extended-properties" xmlns:vt="http://schemas.openxmlformats.org/officeDocument/2006/docPropsVTypes">
  <TotalTime>201</TotalTime>
  <Words>536</Words>
  <Application>Microsoft Macintosh PowerPoint</Application>
  <PresentationFormat>Widescreen</PresentationFormat>
  <Paragraphs>118</Paragraphs>
  <Slides>10</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Aklank Diwakar Cloud Architect - Oracle</vt:lpstr>
      <vt:lpstr>Agentic AI</vt:lpstr>
      <vt:lpstr>Machine Learning</vt:lpstr>
      <vt:lpstr>Problem Statement &amp; Context</vt:lpstr>
      <vt:lpstr>Demo: Fusion HCM Agent - LangGraph</vt:lpstr>
      <vt:lpstr>Agent Evaluation &amp; Optimization</vt:lpstr>
      <vt:lpstr>Guardrails &amp; Safety Measures</vt:lpstr>
      <vt:lpstr>Deployment &amp; Scaling</vt:lpstr>
      <vt:lpstr>Documentation: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Aklank Diwakar</dc:creator>
  <cp:lastModifiedBy>Aklank Diwakar</cp:lastModifiedBy>
  <cp:revision>9</cp:revision>
  <dcterms:created xsi:type="dcterms:W3CDTF">2026-02-02T13:03:05Z</dcterms:created>
  <dcterms:modified xsi:type="dcterms:W3CDTF">2026-02-03T08:34:33Z</dcterms:modified>
</cp:coreProperties>
</file>